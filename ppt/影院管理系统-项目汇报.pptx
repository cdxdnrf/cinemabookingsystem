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各位老师好，今天我来汇报我们小组的软件工程实践课程项目——影院管理系统。这是一个仿照猫眼电影设计的前后端完全分离的在线电影购票平台。我们采用了Spring Boot 3作为后端框架，Vue 3和TypeScript构建前端，数据库使用MySQL。整个系统支持三种用户角色，实现了从电影浏览、在线选座购票到后台管理的完整业务闭环。接下来我将从项目概述、技术架构、系统设计、核心流程、关键技术和功能展示几个方面展开介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汇报分为七个部分。首先我会用一分钟左右介绍项目的整体情况，然后用一分半钟讲技术架构，接着是系统设计部分——重点讲我们的三角色权限体系和数据库设计，之后看三个核心业务流程，再花一分半钟梳理关键技术实现，最后快速展示功能模块和做项目总结。整体控制在十分钟左右，留一些时间给各位老师提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我们这个影院管理系统主要实现了四大核心能力。第一是电影浏览与发现，系统内置了三十部真实电影数据，通过TMDB API获取了高质量海报，支持按类型、年代、地区多维筛选，还集成了预告片播放功能。第二是在线选座购票，采用八乘八的座位图实时选座，下单后座位锁定十分钟，超时自动释放。第三是三角色权限体系，区分超级管理员、影院管理员和普通用户，前后端双重权限保障。第四是数据可视化，用ECharts展示票房趋势和类型分布。整体实现了从前端浏览到后端管理的完整业务闭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接下来看技术架构。我们采用的是经典的三层架构。展示层用Vue 3加TypeScript，配合Element Plus组件库和Tailwind CSS做样式，状态管理用Pinia，图表用ECharts。业务层基于Spring Boot 3构建RESTful API，按业务领域划分了十一个模块，包括认证、电影、场次、订单、影院管理、数据统计等，统一用ApiResult封装响应格式。认证方面采用JWT无状态方案，配合自定义的RequireRole注解实现声明式权限控制。数据层使用MySQL 8.0，设计了十四张表，采用t_前缀命名规范，支持utf8mb4字符集。前后端完全分离，前端部署在Vercel，后端和数据库部署在云服务器上。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部分，重点看三角色权限体系。最顶层是超级管理员，拥有最高权限，负责审核影院入驻申请、管理电影信息、查看全局数据统计、发布系统公告和账号管理。中间层是影院管理员，管理自己影院的影厅、提交排期申请、查看本影院的订单。底层是普通用户，可以浏览电影、在线选座购票、收藏评分和查看自己的订单。权限实现上，后端通过AuthInterceptor拦截器解析JWT Token，配合RequireRole注解做方法级权限控制；前端通过Vue Router的导航守卫和路由meta配置实现页面级访问控制。未登录用户可以浏览首页和电影详情，但购票等受限操作会引导登录。数据库方面设计了十四张表，核心表包括管理员表、影院表、电影表、场次表和订单表，表之间通过外键约束保证数据完整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实现了三个核心业务流程。第一个是选座购票流程，用户从浏览电影开始，选择具体的影院和场次，进入八乘八的座位图进行选座，提交订单后座位被锁定，订单状态变为待支付。这里有一个关键的锁座机制：订单记录了下单时间和十分钟的超时时间，如果用户十分钟内没有支付，后端定时任务会自动扫描超时订单并释放座位。支付完成后状态流转到待取票，取票后订单完成。第二个流程是排期管理，影院管理员新增排期时会先进行冲突检测——查询同一影厅同一时间段是否已有排期，如果有重叠就提示错误，没有冲突则保存并提交给超级管理员审核，审核通过后才能开始售票。第三个是审核工作流，影院管理员注册后提交影院信息，超级管理员审核，通过则绑定影院ID可以正常使用，驳回则返回原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关键技术方面，我重点讲四个点。第一是JWT认证机制，用户登录后后端生成Token返回前端，前端存到localStorage，之后每次请求通过Axios拦截器自动在请求头里携带Bearer Token。后端的AuthInterceptor拦截所有API请求，解析Token获取用户信息和角色，配合RequireRole注解实现声明式的角色权限控制。第二是锁座与超时释放，下单时座位被锁定，订单记录超时时间为下单时间加十分钟，Spring定时任务定期扫描超时订单，自动释放座位并更新订单状态。第三是排期冲突检测，SQL条件判断同一影厅的时间段是否重叠，如果start_time小于新排期的结束时间且end_time大于新排期的开始时间，就判定为冲突，阻止保存。第四是冗余缓存策略，电影表冗余存储了总票房、平均评分和评分数量字段，用户评分或订单完成后实时更新这些字段，避免每次查询都做聚合计算，提升性能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能模块方面，系统共有十九个页面，按三个角色划分。普通用户端五个页面，包括首页展示热播推荐和Top10排行，电影列表支持多维筛选和搜索，电影详情页展示海报、预告片、评分和评论，选座购票页面用八乘八的座位图，还有我的订单页面。影院管理员端也是五个页面，包括工作台概览、影院基本信息维护、影厅增删改和座位布局设置、排片管理支持冲突检测、以及本影院订单查看。超级管理员端功能最丰富，八个页面覆盖了管理首页、数据统计包括票房折线图、类型饼图和排行柱图，影院审核、电影管理支持增删改查以及类型和演职人员管理，全局排期审核可以审批通过或驳回，还有订单管理、公告管理和账号管理。整个功能体系完整覆盖了从用户端到管理端的全部需求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一下项目总结。从完成情况来看，我们完整实现了十一个核心功能点：三角色权限体系、电影浏览搜索和详情展示、在线选座购票、订单全生命周期管理、影院管理员审核工作流、排期管理与冲突检测、ECharts数据统计可视化、系统公告管理、收藏与评分系统、用户注册与账户管理，以及前后端完全分离和独立部署。项目特色方面，后端按业务领域划分了十一个模块，前端按角色划分页面，整体架构清晰模块化；通过冗余缓存减少数据库压力，锁座机制保证数据一致性；利用TMDB API获取真实电影海报，提升用户体验；声明式的权限控制让代码更简洁。未来可以继续扩展的方向包括接入真实支付接口、实现电影推荐算法、座位图灵活配置、用户评论与回复功能，以及消息通知系统。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以上就是我们小组的课程项目汇报的全部内容。感谢各位老师的聆听，欢迎提出宝贵意见，我们很乐意回答任何问题。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F172A"/>
                </a:gs>
                <a:gs pos="5000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6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B82F6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B82F6">
                  <a:alpha val="6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762000" y="762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0" y="571500"/>
                  </a:lnTo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858500" y="762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0"/>
                  </a:moveTo>
                  <a:lnTo>
                    <a:pt x="571500" y="571500"/>
                  </a:lnTo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5524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571500"/>
                  </a:moveTo>
                  <a:lnTo>
                    <a:pt x="0" y="0"/>
                  </a:lnTo>
                  <a:moveTo>
                    <a:pt x="0" y="571500"/>
                  </a:moveTo>
                  <a:lnTo>
                    <a:pt x="571500" y="571500"/>
                  </a:lnTo>
                </a:path>
              </a:pathLst>
            </a:custGeom>
            <a:noFill/>
            <a:ln w="19050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858500" y="5524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571500"/>
                  </a:moveTo>
                  <a:lnTo>
                    <a:pt x="571500" y="0"/>
                  </a:lnTo>
                  <a:moveTo>
                    <a:pt x="571500" y="57150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3B82F6">
                  <a:alpha val="30000"/>
                </a:srgbClr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365250" y="1905000"/>
            <a:ext cx="9445625" cy="2971800"/>
            <a:chOff x="1365250" y="1905000"/>
            <a:chExt cx="9445625" cy="2971800"/>
          </a:xfrm>
        </p:grpSpPr>
        <p:sp>
          <p:nvSpPr>
            <p:cNvPr id="11" name="Rectangle 11"/>
            <p:cNvSpPr/>
            <p:nvPr/>
          </p:nvSpPr>
          <p:spPr>
            <a:xfrm>
              <a:off x="4762500" y="1905000"/>
              <a:ext cx="2667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148614" y="2181225"/>
              <a:ext cx="3894773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gradFill>
                    <a:gsLst>
                      <a:gs pos="0">
                        <a:srgbClr val="3B82F6"/>
                      </a:gs>
                      <a:gs pos="100000">
                        <a:srgbClr val="06B6D4"/>
                      </a:gs>
                    </a:gsLst>
                    <a:lin ang="0" scaled="1"/>
                  </a:gradFill>
                  <a:latin typeface="Georgia"/>
                  <a:ea typeface="Microsoft YaHei"/>
                  <a:cs typeface="Georgia"/>
                </a:rPr>
                <a:t>影院管理系统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93810" y="3060382"/>
              <a:ext cx="38043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Cinema Booking System — 仿猫眼电影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572000" y="3619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60595" y="3870960"/>
              <a:ext cx="26708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软件工程实践 · 课程项目答辩 · 2026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2857500" y="4572000"/>
              <a:ext cx="6477000" cy="304800"/>
              <a:chOff x="2857500" y="4572000"/>
              <a:chExt cx="6477000" cy="3048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857500" y="4572000"/>
                <a:ext cx="85725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857690" y="4676299"/>
                <a:ext cx="8568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B82F6"/>
                    </a:solidFill>
                    <a:latin typeface="Arial"/>
                    <a:ea typeface="Microsoft YaHei"/>
                    <a:cs typeface="Arial"/>
                  </a:rPr>
                  <a:t>Spring Boot 3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3857625" y="4572000"/>
                <a:ext cx="7620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063722" y="4676299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6B6D4"/>
                    </a:solidFill>
                    <a:latin typeface="Arial"/>
                    <a:ea typeface="Microsoft YaHei"/>
                    <a:cs typeface="Arial"/>
                  </a:rPr>
                  <a:t>Vue 3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4762500" y="4572000"/>
                <a:ext cx="66675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878717" y="4676299"/>
                <a:ext cx="4343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MySQL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572125" y="4572000"/>
                <a:ext cx="66675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772852" y="4676299"/>
                <a:ext cx="2652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JWT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381750" y="4572000"/>
                <a:ext cx="66675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52461" y="4676299"/>
                <a:ext cx="5253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ECharts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191375" y="4572000"/>
                <a:ext cx="9525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261943" y="4676299"/>
                <a:ext cx="8113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Element Plus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286750" y="4572000"/>
                <a:ext cx="104775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456950" y="467629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TypeScript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365250" y="2174875"/>
              <a:ext cx="301625" cy="222250"/>
              <a:chOff x="1365250" y="2174875"/>
              <a:chExt cx="301625" cy="2222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571625" y="2216192"/>
                <a:ext cx="95250" cy="14013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0130">
                    <a:moveTo>
                      <a:pt x="81232" y="355"/>
                    </a:moveTo>
                    <a:cubicBezTo>
                      <a:pt x="78157" y="0"/>
                      <a:pt x="75045" y="552"/>
                      <a:pt x="72279" y="1943"/>
                    </a:cubicBezTo>
                    <a:lnTo>
                      <a:pt x="0" y="38058"/>
                    </a:lnTo>
                    <a:lnTo>
                      <a:pt x="0" y="101558"/>
                    </a:lnTo>
                    <a:lnTo>
                      <a:pt x="72279" y="137674"/>
                    </a:lnTo>
                    <a:cubicBezTo>
                      <a:pt x="77194" y="140130"/>
                      <a:pt x="83029" y="139870"/>
                      <a:pt x="87706" y="136987"/>
                    </a:cubicBezTo>
                    <a:cubicBezTo>
                      <a:pt x="92382" y="134104"/>
                      <a:pt x="95236" y="129008"/>
                      <a:pt x="95250" y="123513"/>
                    </a:cubicBezTo>
                    <a:lnTo>
                      <a:pt x="95250" y="16103"/>
                    </a:lnTo>
                    <a:cubicBezTo>
                      <a:pt x="95241" y="8061"/>
                      <a:pt x="89219" y="1296"/>
                      <a:pt x="81232" y="355"/>
                    </a:cubicBezTo>
                    <a:close/>
                  </a:path>
                </a:pathLst>
              </a:cu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365250" y="217487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47625" y="0"/>
                    </a:moveTo>
                    <a:cubicBezTo>
                      <a:pt x="21511" y="0"/>
                      <a:pt x="0" y="21511"/>
                      <a:pt x="0" y="47625"/>
                    </a:cubicBezTo>
                    <a:lnTo>
                      <a:pt x="0" y="174625"/>
                    </a:lnTo>
                    <a:cubicBezTo>
                      <a:pt x="0" y="200739"/>
                      <a:pt x="21511" y="222250"/>
                      <a:pt x="47625" y="222250"/>
                    </a:cubicBezTo>
                    <a:lnTo>
                      <a:pt x="174625" y="222250"/>
                    </a:lnTo>
                    <a:cubicBezTo>
                      <a:pt x="200739" y="222250"/>
                      <a:pt x="222250" y="200739"/>
                      <a:pt x="222250" y="174625"/>
                    </a:cubicBezTo>
                    <a:lnTo>
                      <a:pt x="222250" y="47625"/>
                    </a:lnTo>
                    <a:cubicBezTo>
                      <a:pt x="222250" y="21511"/>
                      <a:pt x="200739" y="0"/>
                      <a:pt x="174625" y="0"/>
                    </a:cubicBezTo>
                    <a:close/>
                  </a:path>
                </a:pathLst>
              </a:custGeom>
              <a:solidFill>
                <a:srgbClr val="3B82F6"/>
              </a:solidFill>
              <a:ln>
                <a:noFill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10509250" y="2174875"/>
              <a:ext cx="301625" cy="222250"/>
              <a:chOff x="10509250" y="2174875"/>
              <a:chExt cx="301625" cy="2222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715625" y="2216192"/>
                <a:ext cx="95250" cy="14013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0130">
                    <a:moveTo>
                      <a:pt x="81232" y="355"/>
                    </a:moveTo>
                    <a:cubicBezTo>
                      <a:pt x="78157" y="0"/>
                      <a:pt x="75045" y="552"/>
                      <a:pt x="72279" y="1943"/>
                    </a:cubicBezTo>
                    <a:lnTo>
                      <a:pt x="0" y="38058"/>
                    </a:lnTo>
                    <a:lnTo>
                      <a:pt x="0" y="101558"/>
                    </a:lnTo>
                    <a:lnTo>
                      <a:pt x="72279" y="137674"/>
                    </a:lnTo>
                    <a:cubicBezTo>
                      <a:pt x="77194" y="140130"/>
                      <a:pt x="83029" y="139870"/>
                      <a:pt x="87706" y="136987"/>
                    </a:cubicBezTo>
                    <a:cubicBezTo>
                      <a:pt x="92382" y="134104"/>
                      <a:pt x="95236" y="129008"/>
                      <a:pt x="95250" y="123513"/>
                    </a:cubicBezTo>
                    <a:lnTo>
                      <a:pt x="95250" y="16103"/>
                    </a:lnTo>
                    <a:cubicBezTo>
                      <a:pt x="95241" y="8061"/>
                      <a:pt x="89219" y="1296"/>
                      <a:pt x="81232" y="355"/>
                    </a:cubicBez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509250" y="217487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47625" y="0"/>
                    </a:moveTo>
                    <a:cubicBezTo>
                      <a:pt x="21511" y="0"/>
                      <a:pt x="0" y="21511"/>
                      <a:pt x="0" y="47625"/>
                    </a:cubicBezTo>
                    <a:lnTo>
                      <a:pt x="0" y="174625"/>
                    </a:lnTo>
                    <a:cubicBezTo>
                      <a:pt x="0" y="200739"/>
                      <a:pt x="21511" y="222250"/>
                      <a:pt x="47625" y="222250"/>
                    </a:cubicBezTo>
                    <a:lnTo>
                      <a:pt x="174625" y="222250"/>
                    </a:lnTo>
                    <a:cubicBezTo>
                      <a:pt x="200739" y="222250"/>
                      <a:pt x="222250" y="200739"/>
                      <a:pt x="222250" y="174625"/>
                    </a:cubicBezTo>
                    <a:lnTo>
                      <a:pt x="222250" y="47625"/>
                    </a:lnTo>
                    <a:cubicBezTo>
                      <a:pt x="222250" y="21511"/>
                      <a:pt x="200739" y="0"/>
                      <a:pt x="174625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</p:sp>
        </p:grpSp>
      </p:grpSp>
      <p:sp>
        <p:nvSpPr>
          <p:cNvPr id="38" name="TextBox 38"/>
          <p:cNvSpPr txBox="1"/>
          <p:nvPr/>
        </p:nvSpPr>
        <p:spPr>
          <a:xfrm>
            <a:off x="11707011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5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0"/>
            <a:ext cx="11049000" cy="533400"/>
            <a:chOff x="571500" y="0"/>
            <a:chExt cx="11049000" cy="533400"/>
          </a:xfrm>
        </p:grpSpPr>
        <p:sp>
          <p:nvSpPr>
            <p:cNvPr id="5" name="Rectangle 5"/>
            <p:cNvSpPr/>
            <p:nvPr/>
          </p:nvSpPr>
          <p:spPr>
            <a:xfrm>
              <a:off x="571500" y="0"/>
              <a:ext cx="3810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470" y="26670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汇报大纲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523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571500" y="809625"/>
            <a:ext cx="11049000" cy="5524500"/>
            <a:chOff x="571500" y="809625"/>
            <a:chExt cx="11049000" cy="5524500"/>
          </a:xfrm>
        </p:grpSpPr>
        <p:grpSp>
          <p:nvGrpSpPr>
            <p:cNvPr id="15" name="Group 15"/>
            <p:cNvGrpSpPr/>
            <p:nvPr/>
          </p:nvGrpSpPr>
          <p:grpSpPr>
            <a:xfrm>
              <a:off x="571500" y="809625"/>
              <a:ext cx="11049000" cy="666750"/>
              <a:chOff x="571500" y="809625"/>
              <a:chExt cx="11049000" cy="666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809625"/>
                <a:ext cx="110490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1E293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809625"/>
                <a:ext cx="666750" cy="666750"/>
              </a:xfrm>
              <a:prstGeom prst="roundRect">
                <a:avLst>
                  <a:gd name="adj" fmla="val 17143"/>
                </a:avLst>
              </a:prstGeom>
              <a:gradFill>
                <a:gsLst>
                  <a:gs pos="0">
                    <a:srgbClr val="3B82F6"/>
                  </a:gs>
                  <a:gs pos="100000">
                    <a:srgbClr val="1D4ED8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53239" y="992505"/>
                <a:ext cx="30327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09700" y="9048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15415" y="11820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项目背景、核心亮点与功能总览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107573" y="1113949"/>
                <a:ext cx="3823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~1 min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71500" y="1619250"/>
              <a:ext cx="11049000" cy="666750"/>
              <a:chOff x="571500" y="1619250"/>
              <a:chExt cx="110490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" y="1619250"/>
                <a:ext cx="110490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1E293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571500" y="1619250"/>
                <a:ext cx="666750" cy="666750"/>
              </a:xfrm>
              <a:prstGeom prst="roundRect">
                <a:avLst>
                  <a:gd name="adj" fmla="val 17143"/>
                </a:avLst>
              </a:prstGeom>
              <a:gradFill>
                <a:gsLst>
                  <a:gs pos="0">
                    <a:srgbClr val="06B6D4"/>
                  </a:gs>
                  <a:gs pos="100000">
                    <a:srgbClr val="0891B2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16485" y="1802130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02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09700" y="1714500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技术架构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15415" y="1991678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技术选型、三层架构与开发环境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964555" y="1923574"/>
                <a:ext cx="5253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~1.5 min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2428875"/>
              <a:ext cx="11049000" cy="666750"/>
              <a:chOff x="571500" y="2428875"/>
              <a:chExt cx="11049000" cy="666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2428875"/>
                <a:ext cx="110490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1E293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71500" y="2428875"/>
                <a:ext cx="666750" cy="666750"/>
              </a:xfrm>
              <a:prstGeom prst="roundRect">
                <a:avLst>
                  <a:gd name="adj" fmla="val 17143"/>
                </a:avLst>
              </a:prstGeom>
              <a:gradFill>
                <a:gsLst>
                  <a:gs pos="0">
                    <a:srgbClr val="8B5CF6"/>
                  </a:gs>
                  <a:gs pos="100000">
                    <a:srgbClr val="7C3AED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16485" y="261175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09700" y="2524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系统设计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415415" y="2801302"/>
                <a:ext cx="20009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三角色权限体系与数据库ER关系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64555" y="2733199"/>
                <a:ext cx="5253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~1.5 min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71500" y="3238500"/>
              <a:ext cx="11049000" cy="666750"/>
              <a:chOff x="571500" y="3238500"/>
              <a:chExt cx="11049000" cy="666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71500" y="3238500"/>
                <a:ext cx="110490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1E293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" y="3238500"/>
                <a:ext cx="666750" cy="666750"/>
              </a:xfrm>
              <a:prstGeom prst="roundRect">
                <a:avLst>
                  <a:gd name="adj" fmla="val 17143"/>
                </a:avLst>
              </a:prstGeom>
              <a:gradFill>
                <a:gsLst>
                  <a:gs pos="0">
                    <a:srgbClr val="F59E0B"/>
                  </a:gs>
                  <a:gs pos="100000">
                    <a:srgbClr val="D97706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16485" y="3421380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409700" y="3333750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核心流程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415415" y="3610928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选座购票、排期管理与审核工作流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964555" y="3542824"/>
                <a:ext cx="5253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~1.5 min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71500" y="4048125"/>
              <a:ext cx="11049000" cy="666750"/>
              <a:chOff x="571500" y="4048125"/>
              <a:chExt cx="11049000" cy="666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4048125"/>
                <a:ext cx="110490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1E293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71500" y="4048125"/>
                <a:ext cx="666750" cy="666750"/>
              </a:xfrm>
              <a:prstGeom prst="roundRect">
                <a:avLst>
                  <a:gd name="adj" fmla="val 17143"/>
                </a:avLst>
              </a:prstGeom>
              <a:gradFill>
                <a:gsLst>
                  <a:gs pos="0">
                    <a:srgbClr val="10B981"/>
                  </a:gs>
                  <a:gs pos="100000">
                    <a:srgbClr val="059669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16485" y="42310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05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409700" y="41433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关键技术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415415" y="4420552"/>
                <a:ext cx="26660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JWT认证、锁座释放、冲突检测、冗余缓存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964555" y="4352449"/>
                <a:ext cx="5253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~1.5 min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571500" y="4857750"/>
              <a:ext cx="11049000" cy="666750"/>
              <a:chOff x="571500" y="4857750"/>
              <a:chExt cx="11049000" cy="6667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571500" y="4857750"/>
                <a:ext cx="110490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1E293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571500" y="4857750"/>
                <a:ext cx="666750" cy="666750"/>
              </a:xfrm>
              <a:prstGeom prst="roundRect">
                <a:avLst>
                  <a:gd name="adj" fmla="val 17143"/>
                </a:avLst>
              </a:prstGeom>
              <a:gradFill>
                <a:gsLst>
                  <a:gs pos="0">
                    <a:srgbClr val="EC4899"/>
                  </a:gs>
                  <a:gs pos="100000">
                    <a:srgbClr val="DB2777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16485" y="5040630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06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409700" y="4953000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功能展示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415415" y="5230178"/>
                <a:ext cx="1685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19个页面按三角色分类展示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107573" y="5162074"/>
                <a:ext cx="3823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~1 min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667375"/>
              <a:ext cx="11049000" cy="666750"/>
              <a:chOff x="571500" y="5667375"/>
              <a:chExt cx="11049000" cy="6667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571500" y="5667375"/>
                <a:ext cx="110490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1E293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571500" y="5667375"/>
                <a:ext cx="666750" cy="666750"/>
              </a:xfrm>
              <a:prstGeom prst="roundRect">
                <a:avLst>
                  <a:gd name="adj" fmla="val 17143"/>
                </a:avLst>
              </a:prstGeom>
              <a:gradFill>
                <a:gsLst>
                  <a:gs pos="0">
                    <a:srgbClr val="3B82F6"/>
                  </a:gs>
                  <a:gs pos="100000">
                    <a:srgbClr val="06B6D4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16485" y="585025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07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409700" y="57626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项目总结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415415" y="603980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完成情况、项目特色与可扩展方向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107573" y="5971699"/>
                <a:ext cx="3823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~1 min</a:t>
                </a:r>
              </a:p>
            </p:txBody>
          </p:sp>
        </p:grpSp>
      </p:grpSp>
      <p:sp>
        <p:nvSpPr>
          <p:cNvPr id="59" name="TextBox 59"/>
          <p:cNvSpPr txBox="1"/>
          <p:nvPr/>
        </p:nvSpPr>
        <p:spPr>
          <a:xfrm>
            <a:off x="11679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5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0"/>
            <a:ext cx="11062335" cy="533400"/>
            <a:chOff x="571500" y="0"/>
            <a:chExt cx="11062335" cy="533400"/>
          </a:xfrm>
        </p:grpSpPr>
        <p:sp>
          <p:nvSpPr>
            <p:cNvPr id="5" name="Rectangle 5"/>
            <p:cNvSpPr/>
            <p:nvPr/>
          </p:nvSpPr>
          <p:spPr>
            <a:xfrm>
              <a:off x="571500" y="0"/>
              <a:ext cx="3810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470" y="26670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项目概述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523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25917" y="172402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仿猫眼电影 · 全栈电影购票系统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809625"/>
            <a:ext cx="11049000" cy="5619750"/>
            <a:chOff x="571500" y="809625"/>
            <a:chExt cx="11049000" cy="561975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809625"/>
              <a:ext cx="5334000" cy="2667000"/>
              <a:chOff x="571500" y="809625"/>
              <a:chExt cx="5334000" cy="2667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809625"/>
                <a:ext cx="5334000" cy="2667000"/>
              </a:xfrm>
              <a:prstGeom prst="roundRect">
                <a:avLst>
                  <a:gd name="adj" fmla="val 5714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571500" y="80962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B82F6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2990850" y="1285875"/>
                <a:ext cx="361950" cy="266700"/>
                <a:chOff x="2990850" y="1285875"/>
                <a:chExt cx="361950" cy="2667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3238500" y="1335455"/>
                  <a:ext cx="114300" cy="168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68156">
                      <a:moveTo>
                        <a:pt x="97479" y="426"/>
                      </a:moveTo>
                      <a:cubicBezTo>
                        <a:pt x="93788" y="0"/>
                        <a:pt x="90054" y="662"/>
                        <a:pt x="86735" y="2331"/>
                      </a:cubicBezTo>
                      <a:lnTo>
                        <a:pt x="0" y="45670"/>
                      </a:lnTo>
                      <a:lnTo>
                        <a:pt x="0" y="121870"/>
                      </a:lnTo>
                      <a:lnTo>
                        <a:pt x="86735" y="165209"/>
                      </a:lnTo>
                      <a:cubicBezTo>
                        <a:pt x="92632" y="168156"/>
                        <a:pt x="99634" y="167844"/>
                        <a:pt x="105247" y="164384"/>
                      </a:cubicBezTo>
                      <a:cubicBezTo>
                        <a:pt x="110859" y="160925"/>
                        <a:pt x="114283" y="154809"/>
                        <a:pt x="114300" y="148216"/>
                      </a:cubicBezTo>
                      <a:lnTo>
                        <a:pt x="114300" y="19324"/>
                      </a:lnTo>
                      <a:cubicBezTo>
                        <a:pt x="114289" y="9673"/>
                        <a:pt x="107063" y="1555"/>
                        <a:pt x="97479" y="426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990850" y="1285875"/>
                  <a:ext cx="2667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266700">
                      <a:moveTo>
                        <a:pt x="57150" y="0"/>
                      </a:moveTo>
                      <a:cubicBezTo>
                        <a:pt x="25813" y="0"/>
                        <a:pt x="0" y="25813"/>
                        <a:pt x="0" y="57150"/>
                      </a:cubicBezTo>
                      <a:lnTo>
                        <a:pt x="0" y="209550"/>
                      </a:lnTo>
                      <a:cubicBezTo>
                        <a:pt x="0" y="240887"/>
                        <a:pt x="25813" y="266700"/>
                        <a:pt x="57150" y="266700"/>
                      </a:cubicBezTo>
                      <a:lnTo>
                        <a:pt x="209550" y="266700"/>
                      </a:lnTo>
                      <a:cubicBezTo>
                        <a:pt x="240887" y="266700"/>
                        <a:pt x="266700" y="240887"/>
                        <a:pt x="266700" y="209550"/>
                      </a:cubicBezTo>
                      <a:lnTo>
                        <a:pt x="266700" y="57150"/>
                      </a:lnTo>
                      <a:cubicBezTo>
                        <a:pt x="266700" y="25813"/>
                        <a:pt x="240887" y="0"/>
                        <a:pt x="20955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2276380" y="171069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1F5F9"/>
                    </a:solidFill>
                    <a:latin typeface="Georgia"/>
                    <a:ea typeface="Microsoft YaHei"/>
                    <a:cs typeface="Georgia"/>
                  </a:rPr>
                  <a:t>电影浏览与发现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011918" y="2164556"/>
                <a:ext cx="233886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30部电影 · 真实海报 · 预告片播放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098179" y="2431256"/>
                <a:ext cx="21663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类型/年代/地区多维筛选 · 搜索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80652" y="2697956"/>
                <a:ext cx="26013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TMDB API获取真实海报 · Fallback机制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901309" y="3133249"/>
                <a:ext cx="25600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B82F6"/>
                    </a:solidFill>
                    <a:latin typeface="Arial"/>
                    <a:ea typeface="Microsoft YaHei"/>
                    <a:cs typeface="Arial"/>
                  </a:rPr>
                  <a:t>前端: Vue 3 + Element Plus + Tailwind CSS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286500" y="809625"/>
              <a:ext cx="5334000" cy="2667000"/>
              <a:chOff x="6286500" y="809625"/>
              <a:chExt cx="5334000" cy="2667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286500" y="809625"/>
                <a:ext cx="5334000" cy="2667000"/>
              </a:xfrm>
              <a:prstGeom prst="roundRect">
                <a:avLst>
                  <a:gd name="adj" fmla="val 5714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286500" y="80962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6B6D4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05830" y="1266825"/>
                <a:ext cx="38102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81020" h="304800">
                    <a:moveTo>
                      <a:pt x="228620" y="0"/>
                    </a:moveTo>
                    <a:lnTo>
                      <a:pt x="228620" y="38100"/>
                    </a:lnTo>
                    <a:cubicBezTo>
                      <a:pt x="228620" y="48621"/>
                      <a:pt x="237149" y="57150"/>
                      <a:pt x="247670" y="57150"/>
                    </a:cubicBezTo>
                    <a:cubicBezTo>
                      <a:pt x="258191" y="57150"/>
                      <a:pt x="266720" y="48621"/>
                      <a:pt x="266720" y="38100"/>
                    </a:cubicBezTo>
                    <a:lnTo>
                      <a:pt x="266720" y="0"/>
                    </a:lnTo>
                    <a:lnTo>
                      <a:pt x="323870" y="0"/>
                    </a:lnTo>
                    <a:cubicBezTo>
                      <a:pt x="355433" y="0"/>
                      <a:pt x="381020" y="25587"/>
                      <a:pt x="381020" y="57150"/>
                    </a:cubicBezTo>
                    <a:lnTo>
                      <a:pt x="381020" y="114300"/>
                    </a:lnTo>
                    <a:cubicBezTo>
                      <a:pt x="381019" y="123958"/>
                      <a:pt x="373790" y="132087"/>
                      <a:pt x="364199" y="133217"/>
                    </a:cubicBezTo>
                    <a:lnTo>
                      <a:pt x="361970" y="133350"/>
                    </a:lnTo>
                    <a:cubicBezTo>
                      <a:pt x="351891" y="133361"/>
                      <a:pt x="343564" y="141222"/>
                      <a:pt x="342974" y="151284"/>
                    </a:cubicBezTo>
                    <a:cubicBezTo>
                      <a:pt x="342383" y="161345"/>
                      <a:pt x="349732" y="170126"/>
                      <a:pt x="359741" y="171317"/>
                    </a:cubicBezTo>
                    <a:lnTo>
                      <a:pt x="361970" y="171450"/>
                    </a:lnTo>
                    <a:cubicBezTo>
                      <a:pt x="372491" y="171450"/>
                      <a:pt x="381020" y="179979"/>
                      <a:pt x="381020" y="190500"/>
                    </a:cubicBezTo>
                    <a:lnTo>
                      <a:pt x="381020" y="247650"/>
                    </a:lnTo>
                    <a:cubicBezTo>
                      <a:pt x="381020" y="279213"/>
                      <a:pt x="355433" y="304800"/>
                      <a:pt x="323870" y="304800"/>
                    </a:cubicBezTo>
                    <a:lnTo>
                      <a:pt x="266720" y="304800"/>
                    </a:lnTo>
                    <a:lnTo>
                      <a:pt x="266720" y="266700"/>
                    </a:lnTo>
                    <a:cubicBezTo>
                      <a:pt x="266719" y="257042"/>
                      <a:pt x="259490" y="248913"/>
                      <a:pt x="249899" y="247783"/>
                    </a:cubicBezTo>
                    <a:lnTo>
                      <a:pt x="247670" y="247650"/>
                    </a:lnTo>
                    <a:cubicBezTo>
                      <a:pt x="237149" y="247650"/>
                      <a:pt x="228620" y="256179"/>
                      <a:pt x="228620" y="266700"/>
                    </a:cubicBezTo>
                    <a:lnTo>
                      <a:pt x="228620" y="304800"/>
                    </a:lnTo>
                    <a:lnTo>
                      <a:pt x="57170" y="304800"/>
                    </a:lnTo>
                    <a:cubicBezTo>
                      <a:pt x="25607" y="304800"/>
                      <a:pt x="20" y="279213"/>
                      <a:pt x="20" y="247650"/>
                    </a:cubicBezTo>
                    <a:lnTo>
                      <a:pt x="20" y="190500"/>
                    </a:lnTo>
                    <a:cubicBezTo>
                      <a:pt x="21" y="180842"/>
                      <a:pt x="7249" y="172713"/>
                      <a:pt x="16841" y="171583"/>
                    </a:cubicBezTo>
                    <a:lnTo>
                      <a:pt x="19070" y="171450"/>
                    </a:lnTo>
                    <a:cubicBezTo>
                      <a:pt x="29149" y="171439"/>
                      <a:pt x="37475" y="163578"/>
                      <a:pt x="38066" y="153516"/>
                    </a:cubicBezTo>
                    <a:cubicBezTo>
                      <a:pt x="38657" y="143455"/>
                      <a:pt x="31307" y="134674"/>
                      <a:pt x="21299" y="133483"/>
                    </a:cubicBezTo>
                    <a:lnTo>
                      <a:pt x="19070" y="133350"/>
                    </a:lnTo>
                    <a:cubicBezTo>
                      <a:pt x="8549" y="133350"/>
                      <a:pt x="20" y="124821"/>
                      <a:pt x="20" y="114300"/>
                    </a:cubicBezTo>
                    <a:lnTo>
                      <a:pt x="20" y="57150"/>
                    </a:lnTo>
                    <a:cubicBezTo>
                      <a:pt x="0" y="27603"/>
                      <a:pt x="22541" y="2930"/>
                      <a:pt x="51969" y="286"/>
                    </a:cubicBezTo>
                    <a:lnTo>
                      <a:pt x="56198" y="19"/>
                    </a:lnTo>
                    <a:close/>
                    <a:moveTo>
                      <a:pt x="247670" y="114300"/>
                    </a:moveTo>
                    <a:cubicBezTo>
                      <a:pt x="237149" y="114300"/>
                      <a:pt x="228620" y="122829"/>
                      <a:pt x="228620" y="133350"/>
                    </a:cubicBezTo>
                    <a:lnTo>
                      <a:pt x="228620" y="171450"/>
                    </a:lnTo>
                    <a:cubicBezTo>
                      <a:pt x="228620" y="181971"/>
                      <a:pt x="237149" y="190500"/>
                      <a:pt x="247670" y="190500"/>
                    </a:cubicBezTo>
                    <a:cubicBezTo>
                      <a:pt x="258191" y="190500"/>
                      <a:pt x="266720" y="181971"/>
                      <a:pt x="266720" y="171450"/>
                    </a:cubicBezTo>
                    <a:lnTo>
                      <a:pt x="266720" y="133350"/>
                    </a:lnTo>
                    <a:cubicBezTo>
                      <a:pt x="266720" y="122829"/>
                      <a:pt x="258191" y="114300"/>
                      <a:pt x="247670" y="114300"/>
                    </a:cubicBezTo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117396" y="1710690"/>
                <a:ext cx="155790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1F5F9"/>
                    </a:solidFill>
                    <a:latin typeface="Georgia"/>
                    <a:ea typeface="Microsoft YaHei"/>
                    <a:cs typeface="Georgia"/>
                  </a:rPr>
                  <a:t>在线选座购票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233231" y="2164556"/>
                <a:ext cx="13262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8×8座位图实时选座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81912" y="243125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下单锁定座位 · 10分钟超时自动释放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535644" y="2697956"/>
                <a:ext cx="27214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订单全生命周期: 待支付→待取票→已完成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81317" y="3133249"/>
                <a:ext cx="24300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6B6D4"/>
                    </a:solidFill>
                    <a:latin typeface="Arial"/>
                    <a:ea typeface="Microsoft YaHei"/>
                    <a:cs typeface="Arial"/>
                  </a:rPr>
                  <a:t>后端: Spring Boot + MyBatis + 定时任务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71500" y="3762375"/>
              <a:ext cx="5334000" cy="2667000"/>
              <a:chOff x="571500" y="3762375"/>
              <a:chExt cx="5334000" cy="2667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71500" y="3762375"/>
                <a:ext cx="5334000" cy="2667000"/>
              </a:xfrm>
              <a:prstGeom prst="roundRect">
                <a:avLst>
                  <a:gd name="adj" fmla="val 5714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" y="3762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982224" y="4181475"/>
                <a:ext cx="398233" cy="381204"/>
              </a:xfrm>
              <a:custGeom>
                <a:avLst/>
                <a:gdLst/>
                <a:ahLst/>
                <a:cxnLst/>
                <a:rect l="l" t="t" r="r" b="b"/>
                <a:pathLst>
                  <a:path w="398233" h="381204">
                    <a:moveTo>
                      <a:pt x="196916" y="133"/>
                    </a:moveTo>
                    <a:lnTo>
                      <a:pt x="199088" y="0"/>
                    </a:lnTo>
                    <a:lnTo>
                      <a:pt x="201336" y="133"/>
                    </a:lnTo>
                    <a:lnTo>
                      <a:pt x="202459" y="286"/>
                    </a:lnTo>
                    <a:lnTo>
                      <a:pt x="203622" y="533"/>
                    </a:lnTo>
                    <a:lnTo>
                      <a:pt x="205736" y="1181"/>
                    </a:lnTo>
                    <a:cubicBezTo>
                      <a:pt x="207197" y="1720"/>
                      <a:pt x="208585" y="2436"/>
                      <a:pt x="209870" y="3315"/>
                    </a:cubicBezTo>
                    <a:lnTo>
                      <a:pt x="211851" y="4877"/>
                    </a:lnTo>
                    <a:lnTo>
                      <a:pt x="216709" y="9030"/>
                    </a:lnTo>
                    <a:cubicBezTo>
                      <a:pt x="255139" y="40949"/>
                      <a:pt x="303708" y="58089"/>
                      <a:pt x="353659" y="57360"/>
                    </a:cubicBezTo>
                    <a:lnTo>
                      <a:pt x="360174" y="57169"/>
                    </a:lnTo>
                    <a:cubicBezTo>
                      <a:pt x="368940" y="56769"/>
                      <a:pt x="376845" y="62409"/>
                      <a:pt x="379320" y="70828"/>
                    </a:cubicBezTo>
                    <a:cubicBezTo>
                      <a:pt x="398233" y="135165"/>
                      <a:pt x="390247" y="204422"/>
                      <a:pt x="357186" y="262766"/>
                    </a:cubicBezTo>
                    <a:cubicBezTo>
                      <a:pt x="324126" y="321110"/>
                      <a:pt x="268818" y="363552"/>
                      <a:pt x="203907" y="380390"/>
                    </a:cubicBezTo>
                    <a:cubicBezTo>
                      <a:pt x="200771" y="381204"/>
                      <a:pt x="197480" y="381204"/>
                      <a:pt x="194344" y="380390"/>
                    </a:cubicBezTo>
                    <a:cubicBezTo>
                      <a:pt x="129430" y="363556"/>
                      <a:pt x="74117" y="321116"/>
                      <a:pt x="41053" y="262771"/>
                    </a:cubicBezTo>
                    <a:cubicBezTo>
                      <a:pt x="7989" y="204427"/>
                      <a:pt x="0" y="135168"/>
                      <a:pt x="18913" y="70828"/>
                    </a:cubicBezTo>
                    <a:cubicBezTo>
                      <a:pt x="21387" y="62409"/>
                      <a:pt x="29292" y="56769"/>
                      <a:pt x="38058" y="57169"/>
                    </a:cubicBezTo>
                    <a:cubicBezTo>
                      <a:pt x="90207" y="59553"/>
                      <a:pt x="141367" y="42386"/>
                      <a:pt x="181524" y="9030"/>
                    </a:cubicBezTo>
                    <a:lnTo>
                      <a:pt x="186534" y="4743"/>
                    </a:lnTo>
                    <a:lnTo>
                      <a:pt x="188362" y="3315"/>
                    </a:lnTo>
                    <a:cubicBezTo>
                      <a:pt x="189647" y="2436"/>
                      <a:pt x="191036" y="1720"/>
                      <a:pt x="192496" y="1181"/>
                    </a:cubicBezTo>
                    <a:lnTo>
                      <a:pt x="194630" y="533"/>
                    </a:lnTo>
                    <a:cubicBezTo>
                      <a:pt x="195377" y="353"/>
                      <a:pt x="196134" y="219"/>
                      <a:pt x="196897" y="133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276380" y="46634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1F5F9"/>
                    </a:solidFill>
                    <a:latin typeface="Georgia"/>
                    <a:ea typeface="Microsoft YaHei"/>
                    <a:cs typeface="Georgia"/>
                  </a:rPr>
                  <a:t>三角色权限体系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944410" y="5117306"/>
                <a:ext cx="24738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超级管理员 · 影院管理员 · 普通用户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873151" y="5384006"/>
                <a:ext cx="26163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JWT + @RequireRole注解 · 声明式权限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861899" y="5650706"/>
                <a:ext cx="26389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Vue Router导航守卫 · 页面级访问控制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83894" y="60859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5CF6"/>
                    </a:solidFill>
                    <a:latin typeface="Arial"/>
                    <a:ea typeface="Microsoft YaHei"/>
                    <a:cs typeface="Arial"/>
                  </a:rPr>
                  <a:t>前后端双重权限保障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286500" y="3762375"/>
              <a:ext cx="5334000" cy="2667000"/>
              <a:chOff x="6286500" y="3762375"/>
              <a:chExt cx="5334000" cy="26670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286500" y="3762375"/>
                <a:ext cx="5334000" cy="2667000"/>
              </a:xfrm>
              <a:prstGeom prst="roundRect">
                <a:avLst>
                  <a:gd name="adj" fmla="val 5714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286500" y="3762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F59E0B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8698501" y="4183203"/>
                <a:ext cx="384539" cy="384462"/>
                <a:chOff x="8698501" y="4183203"/>
                <a:chExt cx="384539" cy="384462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8698501" y="4183203"/>
                  <a:ext cx="384539" cy="38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539" h="384462">
                      <a:moveTo>
                        <a:pt x="157520" y="2215"/>
                      </a:moveTo>
                      <a:cubicBezTo>
                        <a:pt x="176315" y="0"/>
                        <a:pt x="193643" y="12637"/>
                        <a:pt x="197278" y="31209"/>
                      </a:cubicBezTo>
                      <a:lnTo>
                        <a:pt x="197754" y="34390"/>
                      </a:lnTo>
                      <a:lnTo>
                        <a:pt x="197849" y="36372"/>
                      </a:lnTo>
                      <a:lnTo>
                        <a:pt x="197849" y="169722"/>
                      </a:lnTo>
                      <a:cubicBezTo>
                        <a:pt x="197850" y="179379"/>
                        <a:pt x="205079" y="187508"/>
                        <a:pt x="214670" y="188638"/>
                      </a:cubicBezTo>
                      <a:lnTo>
                        <a:pt x="216899" y="188772"/>
                      </a:lnTo>
                      <a:lnTo>
                        <a:pt x="346439" y="188772"/>
                      </a:lnTo>
                      <a:cubicBezTo>
                        <a:pt x="367481" y="188772"/>
                        <a:pt x="384539" y="205830"/>
                        <a:pt x="384539" y="226872"/>
                      </a:cubicBezTo>
                      <a:cubicBezTo>
                        <a:pt x="384538" y="228321"/>
                        <a:pt x="384372" y="229765"/>
                        <a:pt x="384044" y="231177"/>
                      </a:cubicBezTo>
                      <a:cubicBezTo>
                        <a:pt x="362952" y="322179"/>
                        <a:pt x="278986" y="384462"/>
                        <a:pt x="185779" y="378242"/>
                      </a:cubicBezTo>
                      <a:cubicBezTo>
                        <a:pt x="92571" y="372021"/>
                        <a:pt x="17626" y="299134"/>
                        <a:pt x="8813" y="206136"/>
                      </a:cubicBezTo>
                      <a:cubicBezTo>
                        <a:pt x="0" y="113138"/>
                        <a:pt x="59921" y="27471"/>
                        <a:pt x="150300" y="3853"/>
                      </a:cubicBezTo>
                      <a:lnTo>
                        <a:pt x="155444" y="2577"/>
                      </a:lnTo>
                      <a:lnTo>
                        <a:pt x="157539" y="2196"/>
                      </a:ln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934450" y="4190027"/>
                  <a:ext cx="143841" cy="143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841" h="143848">
                      <a:moveTo>
                        <a:pt x="0" y="20023"/>
                      </a:moveTo>
                      <a:lnTo>
                        <a:pt x="0" y="124798"/>
                      </a:lnTo>
                      <a:cubicBezTo>
                        <a:pt x="0" y="135319"/>
                        <a:pt x="8529" y="143848"/>
                        <a:pt x="19050" y="143848"/>
                      </a:cubicBezTo>
                      <a:lnTo>
                        <a:pt x="123825" y="143848"/>
                      </a:lnTo>
                      <a:cubicBezTo>
                        <a:pt x="130004" y="143846"/>
                        <a:pt x="135798" y="140848"/>
                        <a:pt x="139368" y="135806"/>
                      </a:cubicBezTo>
                      <a:cubicBezTo>
                        <a:pt x="142938" y="130763"/>
                        <a:pt x="143841" y="124302"/>
                        <a:pt x="141790" y="118474"/>
                      </a:cubicBezTo>
                      <a:cubicBezTo>
                        <a:pt x="122626" y="64042"/>
                        <a:pt x="79822" y="21232"/>
                        <a:pt x="25394" y="2059"/>
                      </a:cubicBezTo>
                      <a:cubicBezTo>
                        <a:pt x="19564" y="0"/>
                        <a:pt x="13097" y="899"/>
                        <a:pt x="8049" y="4470"/>
                      </a:cubicBezTo>
                      <a:cubicBezTo>
                        <a:pt x="3001" y="8041"/>
                        <a:pt x="0" y="13840"/>
                        <a:pt x="0" y="20023"/>
                      </a:cubicBez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8243411" y="466344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1F5F9"/>
                    </a:solidFill>
                    <a:latin typeface="Georgia"/>
                    <a:ea typeface="Microsoft YaHei"/>
                    <a:cs typeface="Georgia"/>
                  </a:rPr>
                  <a:t>数据可视化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083213" y="5117306"/>
                <a:ext cx="16262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ECharts 5.5+ 图表驱动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468136" y="5384006"/>
                <a:ext cx="28564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近7日票房折线 · 类型分布饼图 · 排行柱图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670661" y="5650706"/>
                <a:ext cx="24513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14张表 · 冗余缓存优化 · 审核工作流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493919" y="60859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完整业务闭环</a:t>
                </a:r>
              </a:p>
            </p:txBody>
          </p:sp>
        </p:grpSp>
      </p:grpSp>
      <p:sp>
        <p:nvSpPr>
          <p:cNvPr id="51" name="TextBox 51"/>
          <p:cNvSpPr txBox="1"/>
          <p:nvPr/>
        </p:nvSpPr>
        <p:spPr>
          <a:xfrm>
            <a:off x="11679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5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0"/>
            <a:ext cx="11049000" cy="533400"/>
            <a:chOff x="571500" y="0"/>
            <a:chExt cx="11049000" cy="533400"/>
          </a:xfrm>
        </p:grpSpPr>
        <p:sp>
          <p:nvSpPr>
            <p:cNvPr id="5" name="Rectangle 5"/>
            <p:cNvSpPr/>
            <p:nvPr/>
          </p:nvSpPr>
          <p:spPr>
            <a:xfrm>
              <a:off x="571500" y="0"/>
              <a:ext cx="3810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470" y="26670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技术架构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523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71500" y="714375"/>
            <a:ext cx="7429500" cy="1933575"/>
            <a:chOff x="571500" y="714375"/>
            <a:chExt cx="7429500" cy="1933575"/>
          </a:xfrm>
        </p:grpSpPr>
        <p:sp>
          <p:nvSpPr>
            <p:cNvPr id="9" name="Rectangle 9"/>
            <p:cNvSpPr/>
            <p:nvPr/>
          </p:nvSpPr>
          <p:spPr>
            <a:xfrm>
              <a:off x="571500" y="714375"/>
              <a:ext cx="7429500" cy="1619250"/>
            </a:xfrm>
            <a:prstGeom prst="roundRect">
              <a:avLst>
                <a:gd name="adj" fmla="val 7059"/>
              </a:avLst>
            </a:prstGeom>
            <a:solidFill>
              <a:srgbClr val="1E293B"/>
            </a:solidFill>
            <a:ln w="9525">
              <a:solidFill>
                <a:srgbClr val="3B82F6">
                  <a:alpha val="40000"/>
                </a:srgbClr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714375"/>
              <a:ext cx="7429500" cy="361950"/>
            </a:xfrm>
            <a:prstGeom prst="roundRect">
              <a:avLst>
                <a:gd name="adj" fmla="val 31579"/>
              </a:avLst>
            </a:prstGeom>
            <a:gradFill>
              <a:gsLst>
                <a:gs pos="0">
                  <a:srgbClr val="3B82F6"/>
                </a:gs>
                <a:gs pos="100000">
                  <a:srgbClr val="2563E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962025"/>
              <a:ext cx="7429500" cy="114300"/>
            </a:xfrm>
            <a:prstGeom prst="rect">
              <a:avLst/>
            </a:prstGeom>
            <a:gradFill>
              <a:gsLst>
                <a:gs pos="0">
                  <a:srgbClr val="3B82F6"/>
                </a:gs>
                <a:gs pos="100000">
                  <a:srgbClr val="2563E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5355" y="806768"/>
              <a:ext cx="17260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展示层 — Vue 3 前端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" y="1238250"/>
              <a:ext cx="1285875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845" y="1361599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Vue 3 + TypeScript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38375" y="1238250"/>
              <a:ext cx="114300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04193" y="1361599"/>
              <a:ext cx="8113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Element Plus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524250" y="1238250"/>
              <a:ext cx="95250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11070" y="1361599"/>
              <a:ext cx="7788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Tailwind CSS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19625" y="1238250"/>
              <a:ext cx="76200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41974" y="1361599"/>
              <a:ext cx="317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Pinia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24500" y="1238250"/>
              <a:ext cx="809625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61886" y="1361599"/>
              <a:ext cx="5253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ECharts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77000" y="1238250"/>
              <a:ext cx="619125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42652" y="1361599"/>
              <a:ext cx="2782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Vite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9165" y="1744028"/>
              <a:ext cx="34290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19个页面 · 三角色路由 · 导航守卫 · Axios HTTP客户端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286250" y="2362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3B82F6">
                  <a:alpha val="50000"/>
                </a:srgbClr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4191000" y="2552700"/>
              <a:ext cx="190500" cy="95250"/>
            </a:xfrm>
            <a:custGeom>
              <a:avLst/>
              <a:gdLst/>
              <a:ahLst/>
              <a:cxnLst/>
              <a:rect l="l" t="t" r="r" b="b"/>
              <a:pathLst>
                <a:path w="190500" h="95250">
                  <a:moveTo>
                    <a:pt x="0" y="0"/>
                  </a:moveTo>
                  <a:lnTo>
                    <a:pt x="95250" y="952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B82F6">
                <a:alpha val="500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571500" y="2667000"/>
            <a:ext cx="7429500" cy="1933575"/>
            <a:chOff x="571500" y="2667000"/>
            <a:chExt cx="7429500" cy="1933575"/>
          </a:xfrm>
        </p:grpSpPr>
        <p:sp>
          <p:nvSpPr>
            <p:cNvPr id="29" name="Rectangle 29"/>
            <p:cNvSpPr/>
            <p:nvPr/>
          </p:nvSpPr>
          <p:spPr>
            <a:xfrm>
              <a:off x="571500" y="2667000"/>
              <a:ext cx="7429500" cy="1619250"/>
            </a:xfrm>
            <a:prstGeom prst="roundRect">
              <a:avLst>
                <a:gd name="adj" fmla="val 7059"/>
              </a:avLst>
            </a:prstGeom>
            <a:solidFill>
              <a:srgbClr val="1E293B"/>
            </a:solidFill>
            <a:ln w="9525">
              <a:solidFill>
                <a:srgbClr val="06B6D4">
                  <a:alpha val="40000"/>
                </a:srgbClr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2667000"/>
              <a:ext cx="7429500" cy="361950"/>
            </a:xfrm>
            <a:prstGeom prst="roundRect">
              <a:avLst>
                <a:gd name="adj" fmla="val 31579"/>
              </a:avLst>
            </a:prstGeom>
            <a:gradFill>
              <a:gsLst>
                <a:gs pos="0">
                  <a:srgbClr val="06B6D4"/>
                </a:gs>
                <a:gs pos="100000">
                  <a:srgbClr val="0891B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2914650"/>
              <a:ext cx="7429500" cy="114300"/>
            </a:xfrm>
            <a:prstGeom prst="rect">
              <a:avLst/>
            </a:prstGeom>
            <a:gradFill>
              <a:gsLst>
                <a:gs pos="0">
                  <a:srgbClr val="06B6D4"/>
                </a:gs>
                <a:gs pos="100000">
                  <a:srgbClr val="0891B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5355" y="2759392"/>
              <a:ext cx="24632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业务层 — Spring Boot 3 后端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9625" y="3190875"/>
              <a:ext cx="114300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8943" y="331422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JWT 认证拦截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095500" y="3190875"/>
              <a:ext cx="95250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62818" y="3314224"/>
              <a:ext cx="8178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@RequireRole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190875" y="3190875"/>
              <a:ext cx="104775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12319" y="33142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定时任务调度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381500" y="3190875"/>
              <a:ext cx="95250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39829" y="3314224"/>
              <a:ext cx="635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CORS 配置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476875" y="3190875"/>
              <a:ext cx="123825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93569" y="33142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全局异常处理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858000" y="3190875"/>
              <a:ext cx="95250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61835" y="331422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统一响应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9165" y="3696652"/>
              <a:ext cx="50883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11个业务模块 · RESTful API · MyBatis ORM · Hutool工具库 · ApiResult统一封装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286250" y="43148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06B6D4">
                  <a:alpha val="50000"/>
                </a:srgbClr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4191000" y="4505325"/>
              <a:ext cx="190500" cy="95250"/>
            </a:xfrm>
            <a:custGeom>
              <a:avLst/>
              <a:gdLst/>
              <a:ahLst/>
              <a:cxnLst/>
              <a:rect l="l" t="t" r="r" b="b"/>
              <a:pathLst>
                <a:path w="190500" h="95250">
                  <a:moveTo>
                    <a:pt x="0" y="0"/>
                  </a:moveTo>
                  <a:lnTo>
                    <a:pt x="95250" y="952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6B6D4">
                <a:alpha val="50000"/>
              </a:srgbClr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571500" y="4619625"/>
            <a:ext cx="7429500" cy="1619250"/>
            <a:chOff x="571500" y="4619625"/>
            <a:chExt cx="7429500" cy="1619250"/>
          </a:xfrm>
        </p:grpSpPr>
        <p:sp>
          <p:nvSpPr>
            <p:cNvPr id="49" name="Rectangle 49"/>
            <p:cNvSpPr/>
            <p:nvPr/>
          </p:nvSpPr>
          <p:spPr>
            <a:xfrm>
              <a:off x="571500" y="4619625"/>
              <a:ext cx="7429500" cy="1619250"/>
            </a:xfrm>
            <a:prstGeom prst="roundRect">
              <a:avLst>
                <a:gd name="adj" fmla="val 7059"/>
              </a:avLst>
            </a:prstGeom>
            <a:solidFill>
              <a:srgbClr val="1E293B"/>
            </a:solidFill>
            <a:ln w="9525">
              <a:solidFill>
                <a:srgbClr val="F59E0B">
                  <a:alpha val="40000"/>
                </a:srgbClr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1500" y="4619625"/>
              <a:ext cx="7429500" cy="361950"/>
            </a:xfrm>
            <a:prstGeom prst="roundRect">
              <a:avLst>
                <a:gd name="adj" fmla="val 31579"/>
              </a:avLst>
            </a:prstGeom>
            <a:gradFill>
              <a:gsLst>
                <a:gs pos="0">
                  <a:srgbClr val="F59E0B"/>
                </a:gs>
                <a:gs pos="100000">
                  <a:srgbClr val="D9770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71500" y="4867275"/>
              <a:ext cx="7429500" cy="114300"/>
            </a:xfrm>
            <a:prstGeom prst="rect">
              <a:avLst/>
            </a:prstGeom>
            <a:gradFill>
              <a:gsLst>
                <a:gs pos="0">
                  <a:srgbClr val="F59E0B"/>
                </a:gs>
                <a:gs pos="100000">
                  <a:srgbClr val="D9770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5355" y="4712018"/>
              <a:ext cx="23876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数据层 — MySQL + 外部服务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09625" y="5143500"/>
              <a:ext cx="142875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0044" y="5266849"/>
              <a:ext cx="1207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MySQL 8.0 · 14张表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381250" y="5143500"/>
              <a:ext cx="142875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624935" y="5266849"/>
              <a:ext cx="9413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utf8mb4字符集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952875" y="5143500"/>
              <a:ext cx="142875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264819" y="52668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冗余缓存策略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24500" y="5143500"/>
              <a:ext cx="114300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17084" y="5266849"/>
              <a:ext cx="5578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TMDB API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810375" y="5143500"/>
              <a:ext cx="952500" cy="342900"/>
            </a:xfrm>
            <a:prstGeom prst="roundRect">
              <a:avLst>
                <a:gd name="adj" fmla="val 22222"/>
              </a:avLst>
            </a:prstGeom>
            <a:solidFill>
              <a:srgbClr val="0F172A"/>
            </a:solidFill>
            <a:ln w="9525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78456" y="5266849"/>
              <a:ext cx="616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B站预告片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9165" y="5649278"/>
              <a:ext cx="46612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t_前缀命名规范 · 外键约束 · 索引优化 · 票房/评分字段冗余避免聚合查询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191500" y="714375"/>
            <a:ext cx="3429000" cy="5524500"/>
            <a:chOff x="8191500" y="714375"/>
            <a:chExt cx="3429000" cy="5524500"/>
          </a:xfrm>
        </p:grpSpPr>
        <p:sp>
          <p:nvSpPr>
            <p:cNvPr id="65" name="Rectangle 65"/>
            <p:cNvSpPr/>
            <p:nvPr/>
          </p:nvSpPr>
          <p:spPr>
            <a:xfrm>
              <a:off x="8191500" y="714375"/>
              <a:ext cx="3429000" cy="5524500"/>
            </a:xfrm>
            <a:prstGeom prst="roundRect">
              <a:avLst>
                <a:gd name="adj" fmla="val 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10808" y="902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技术选型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8382000" y="1190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368665" y="13630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后端框架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465118" y="1371124"/>
              <a:ext cx="11429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Spring Boot 3.3.5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68665" y="1648778"/>
              <a:ext cx="328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ORM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65118" y="165687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MyBatis 3.0.3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68665" y="1934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前端框架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65118" y="1942624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Vue 3.4+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68665" y="22202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前端语言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65118" y="2228374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TypeScript 5.3+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68665" y="2506028"/>
              <a:ext cx="592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UI组件库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465118" y="2514124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Element Plus 2.7+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68665" y="2791778"/>
              <a:ext cx="563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CSS框架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465118" y="2799874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Tailwind CSS 3.4+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368665" y="3077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状态管理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465118" y="3085624"/>
              <a:ext cx="6098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Pinia 2.1+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68665" y="336327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图表库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465118" y="337137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ECharts 5.5+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68665" y="36490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465118" y="3657124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MySQL 8.0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368665" y="39347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认证方案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465118" y="3942874"/>
              <a:ext cx="2652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JWT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368665" y="4220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构建工具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465118" y="4228624"/>
              <a:ext cx="8113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Vite / Maven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68665" y="4506278"/>
              <a:ext cx="269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JDK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465118" y="4514374"/>
              <a:ext cx="317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&gt;= 17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368665" y="4792028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Node.js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465118" y="4800124"/>
              <a:ext cx="317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&gt;= 18</a:t>
              </a:r>
            </a:p>
          </p:txBody>
        </p:sp>
        <p:sp>
          <p:nvSpPr>
            <p:cNvPr id="94" name="Line 94"/>
            <p:cNvSpPr/>
            <p:nvPr/>
          </p:nvSpPr>
          <p:spPr>
            <a:xfrm>
              <a:off x="8382000" y="5143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369618" y="5276374"/>
              <a:ext cx="2236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部署: Vercel + 云服务器 + 云数据库</a:t>
              </a: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11679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8" grpId="0"/>
      <p:bldP spid="64" grpId="0"/>
      <p:bldP spid="9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5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0"/>
            <a:ext cx="11049000" cy="533400"/>
            <a:chOff x="571500" y="0"/>
            <a:chExt cx="11049000" cy="533400"/>
          </a:xfrm>
        </p:grpSpPr>
        <p:sp>
          <p:nvSpPr>
            <p:cNvPr id="5" name="Rectangle 5"/>
            <p:cNvSpPr/>
            <p:nvPr/>
          </p:nvSpPr>
          <p:spPr>
            <a:xfrm>
              <a:off x="571500" y="0"/>
              <a:ext cx="3810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470" y="26670"/>
              <a:ext cx="41438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系统设计 — 三角色权限体系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523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714750" y="762000"/>
            <a:ext cx="4762500" cy="1314450"/>
            <a:chOff x="3714750" y="762000"/>
            <a:chExt cx="4762500" cy="1314450"/>
          </a:xfrm>
        </p:grpSpPr>
        <p:sp>
          <p:nvSpPr>
            <p:cNvPr id="9" name="Rectangle 9"/>
            <p:cNvSpPr/>
            <p:nvPr/>
          </p:nvSpPr>
          <p:spPr>
            <a:xfrm>
              <a:off x="3714750" y="762000"/>
              <a:ext cx="4762500" cy="857250"/>
            </a:xfrm>
            <a:prstGeom prst="roundRect">
              <a:avLst>
                <a:gd name="adj" fmla="val 15556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714750" y="762000"/>
              <a:ext cx="47625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022606" y="1047750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7687" y="100"/>
                  </a:moveTo>
                  <a:lnTo>
                    <a:pt x="149316" y="0"/>
                  </a:ln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55795" y="964882"/>
              <a:ext cx="21442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超级管理员 (ADMIN)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3415" y="1296352"/>
              <a:ext cx="34711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审核影院 · 管理电影 · 数据统计 · 公告管理 · 账号管理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0" y="1619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6019800" y="19621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76200" y="1143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714750" y="2095500"/>
            <a:ext cx="4762500" cy="1314450"/>
            <a:chOff x="3714750" y="2095500"/>
            <a:chExt cx="4762500" cy="1314450"/>
          </a:xfrm>
        </p:grpSpPr>
        <p:sp>
          <p:nvSpPr>
            <p:cNvPr id="17" name="Rectangle 17"/>
            <p:cNvSpPr/>
            <p:nvPr/>
          </p:nvSpPr>
          <p:spPr>
            <a:xfrm>
              <a:off x="3714750" y="2095500"/>
              <a:ext cx="4762500" cy="857250"/>
            </a:xfrm>
            <a:prstGeom prst="roundRect">
              <a:avLst>
                <a:gd name="adj" fmla="val 15556"/>
              </a:avLst>
            </a:prstGeom>
            <a:solidFill>
              <a:srgbClr val="1E293B"/>
            </a:solidFill>
            <a:ln w="19050">
              <a:solidFill>
                <a:srgbClr val="06B6D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714750" y="2095500"/>
              <a:ext cx="47625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071938" y="2381250"/>
              <a:ext cx="200025" cy="285750"/>
              <a:chOff x="4071938" y="2381250"/>
              <a:chExt cx="200025" cy="2857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100512" y="2381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71438" y="0"/>
                    </a:moveTo>
                    <a:cubicBezTo>
                      <a:pt x="110891" y="0"/>
                      <a:pt x="142875" y="31984"/>
                      <a:pt x="142875" y="71438"/>
                    </a:cubicBez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lnTo>
                      <a:pt x="71" y="68337"/>
                    </a:lnTo>
                    <a:cubicBezTo>
                      <a:pt x="1731" y="30127"/>
                      <a:pt x="33191" y="2"/>
                      <a:pt x="71438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071938" y="2552700"/>
                <a:ext cx="2000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14300">
                    <a:moveTo>
                      <a:pt x="128588" y="0"/>
                    </a:moveTo>
                    <a:cubicBezTo>
                      <a:pt x="168041" y="0"/>
                      <a:pt x="200025" y="31984"/>
                      <a:pt x="200025" y="71438"/>
                    </a:cubicBezTo>
                    <a:lnTo>
                      <a:pt x="200025" y="85725"/>
                    </a:lnTo>
                    <a:cubicBezTo>
                      <a:pt x="200025" y="101507"/>
                      <a:pt x="187232" y="114300"/>
                      <a:pt x="171450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lnTo>
                      <a:pt x="128588" y="0"/>
                    </a:ln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4455795" y="2298382"/>
              <a:ext cx="30221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影院管理员 (CINEMA_ADMIN)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63415" y="2629852"/>
              <a:ext cx="2448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影厅管理 · 场次排片 · 查看本影院订单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0" y="29527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019800" y="32956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76200" y="1143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714750" y="3429000"/>
            <a:ext cx="4762500" cy="857250"/>
            <a:chOff x="3714750" y="3429000"/>
            <a:chExt cx="4762500" cy="857250"/>
          </a:xfrm>
        </p:grpSpPr>
        <p:sp>
          <p:nvSpPr>
            <p:cNvPr id="27" name="Rectangle 27"/>
            <p:cNvSpPr/>
            <p:nvPr/>
          </p:nvSpPr>
          <p:spPr>
            <a:xfrm>
              <a:off x="3714750" y="3429000"/>
              <a:ext cx="4762500" cy="857250"/>
            </a:xfrm>
            <a:prstGeom prst="roundRect">
              <a:avLst>
                <a:gd name="adj" fmla="val 15556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14750" y="3429000"/>
              <a:ext cx="4762500" cy="38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071938" y="3714750"/>
              <a:ext cx="200025" cy="285750"/>
              <a:chOff x="4071938" y="3714750"/>
              <a:chExt cx="200025" cy="2857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100512" y="37147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71438" y="0"/>
                    </a:moveTo>
                    <a:cubicBezTo>
                      <a:pt x="110891" y="0"/>
                      <a:pt x="142875" y="31984"/>
                      <a:pt x="142875" y="71438"/>
                    </a:cubicBez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lnTo>
                      <a:pt x="71" y="68337"/>
                    </a:lnTo>
                    <a:cubicBezTo>
                      <a:pt x="1731" y="30127"/>
                      <a:pt x="33191" y="2"/>
                      <a:pt x="71438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071938" y="3886200"/>
                <a:ext cx="2000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14300">
                    <a:moveTo>
                      <a:pt x="128588" y="0"/>
                    </a:moveTo>
                    <a:cubicBezTo>
                      <a:pt x="168041" y="0"/>
                      <a:pt x="200025" y="31984"/>
                      <a:pt x="200025" y="71438"/>
                    </a:cubicBezTo>
                    <a:lnTo>
                      <a:pt x="200025" y="85725"/>
                    </a:lnTo>
                    <a:cubicBezTo>
                      <a:pt x="200025" y="101507"/>
                      <a:pt x="187232" y="114300"/>
                      <a:pt x="171450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lnTo>
                      <a:pt x="128588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455795" y="3631882"/>
              <a:ext cx="17977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普通用户 (USER)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63415" y="3963352"/>
              <a:ext cx="27500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浏览电影 · 选座购票 · 收藏评分 · 查看订单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53500" y="762000"/>
            <a:ext cx="2667000" cy="3598069"/>
            <a:chOff x="8953500" y="762000"/>
            <a:chExt cx="2667000" cy="3598069"/>
          </a:xfrm>
        </p:grpSpPr>
        <p:sp>
          <p:nvSpPr>
            <p:cNvPr id="35" name="Rectangle 35"/>
            <p:cNvSpPr/>
            <p:nvPr/>
          </p:nvSpPr>
          <p:spPr>
            <a:xfrm>
              <a:off x="8953500" y="762000"/>
              <a:ext cx="2667000" cy="3524250"/>
            </a:xfrm>
            <a:prstGeom prst="roundRect">
              <a:avLst>
                <a:gd name="adj" fmla="val 4286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935718" y="9658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Georgia"/>
                  <a:ea typeface="Microsoft YaHei"/>
                  <a:cs typeface="Georgia"/>
                </a:rPr>
                <a:t>权限实现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144000" y="1219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30665" y="14106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后端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31618" y="1656874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@RequireRole 注解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31618" y="1875949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AuthInterceptor 拦截器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31618" y="20950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声明式权限控制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144000" y="2381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30665" y="25536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前端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31618" y="2799874"/>
              <a:ext cx="12664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Vue Router 导航守卫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31618" y="3018949"/>
              <a:ext cx="1331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路由 meta.roles 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31618" y="32380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页面级访问控制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9144000" y="3524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30665" y="36966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未登录用户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31618" y="394287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可浏览首页和电影详情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1618" y="41619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受限操作引导登录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572000"/>
            <a:ext cx="8001000" cy="571500"/>
            <a:chOff x="571500" y="4572000"/>
            <a:chExt cx="8001000" cy="571500"/>
          </a:xfrm>
        </p:grpSpPr>
        <p:sp>
          <p:nvSpPr>
            <p:cNvPr id="52" name="Rectangle 52"/>
            <p:cNvSpPr/>
            <p:nvPr/>
          </p:nvSpPr>
          <p:spPr>
            <a:xfrm>
              <a:off x="571500" y="4572000"/>
              <a:ext cx="8001000" cy="571500"/>
            </a:xfrm>
            <a:prstGeom prst="roundRect">
              <a:avLst>
                <a:gd name="adj" fmla="val 2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90587" y="4765675"/>
              <a:ext cx="200026" cy="222250"/>
              <a:chOff x="890587" y="4765675"/>
              <a:chExt cx="200026" cy="22225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90588" y="4918261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6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162"/>
                      <a:pt x="156742" y="68953"/>
                      <a:pt x="103424" y="69642"/>
                    </a:cubicBezTo>
                    <a:lnTo>
                      <a:pt x="100012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90588" y="4851586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6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740"/>
                      <a:pt x="154886" y="69664"/>
                      <a:pt x="100012" y="69664"/>
                    </a:cubicBezTo>
                    <a:cubicBezTo>
                      <a:pt x="46695" y="69664"/>
                      <a:pt x="2556" y="53684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90587" y="4765675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3" y="0"/>
                    </a:moveTo>
                    <a:cubicBezTo>
                      <a:pt x="111581" y="0"/>
                      <a:pt x="122727" y="756"/>
                      <a:pt x="133095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1" y="6856"/>
                    </a:cubicBezTo>
                    <a:lnTo>
                      <a:pt x="160821" y="8312"/>
                    </a:lnTo>
                    <a:lnTo>
                      <a:pt x="161654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1" y="12868"/>
                    </a:lnTo>
                    <a:cubicBezTo>
                      <a:pt x="176775" y="14661"/>
                      <a:pt x="180357" y="16624"/>
                      <a:pt x="183557" y="18758"/>
                    </a:cubicBezTo>
                    <a:cubicBezTo>
                      <a:pt x="184780" y="19573"/>
                      <a:pt x="185939" y="20406"/>
                      <a:pt x="187035" y="21258"/>
                    </a:cubicBezTo>
                    <a:cubicBezTo>
                      <a:pt x="189813" y="23413"/>
                      <a:pt x="192310" y="25907"/>
                      <a:pt x="194470" y="28681"/>
                    </a:cubicBezTo>
                    <a:lnTo>
                      <a:pt x="195481" y="30104"/>
                    </a:lnTo>
                    <a:cubicBezTo>
                      <a:pt x="195999" y="30882"/>
                      <a:pt x="196477" y="31663"/>
                      <a:pt x="196914" y="32449"/>
                    </a:cubicBezTo>
                    <a:lnTo>
                      <a:pt x="197692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3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6" y="2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223010" y="4728210"/>
              <a:ext cx="1156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数据库: 14张表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53665" y="4744402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utf8mb4_unicode_ci字符集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49165" y="4744402"/>
              <a:ext cx="1020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t_前缀命名规范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4165" y="47444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外键约束 + 索引优化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71500" y="5334000"/>
            <a:ext cx="9334500" cy="523875"/>
            <a:chOff x="571500" y="5334000"/>
            <a:chExt cx="9334500" cy="523875"/>
          </a:xfrm>
        </p:grpSpPr>
        <p:sp>
          <p:nvSpPr>
            <p:cNvPr id="62" name="Rectangle 62"/>
            <p:cNvSpPr/>
            <p:nvPr/>
          </p:nvSpPr>
          <p:spPr>
            <a:xfrm>
              <a:off x="571500" y="5334000"/>
              <a:ext cx="1714500" cy="523875"/>
            </a:xfrm>
            <a:prstGeom prst="roundRect">
              <a:avLst>
                <a:gd name="adj" fmla="val 18182"/>
              </a:avLst>
            </a:prstGeom>
            <a:solidFill>
              <a:srgbClr val="1E293B"/>
            </a:solidFill>
            <a:ln w="9525">
              <a:solidFill>
                <a:srgbClr val="3B82F6">
                  <a:alpha val="50000"/>
                </a:srgbClr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49382" y="5458778"/>
              <a:ext cx="558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B82F6"/>
                  </a:solidFill>
                  <a:latin typeface="Consolas"/>
                  <a:ea typeface="Microsoft YaHei"/>
                  <a:cs typeface="Consolas"/>
                </a:rPr>
                <a:t>t_admin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3238" y="56640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超级管理员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476500" y="5334000"/>
              <a:ext cx="1714500" cy="523875"/>
            </a:xfrm>
            <a:prstGeom prst="roundRect">
              <a:avLst>
                <a:gd name="adj" fmla="val 18182"/>
              </a:avLst>
            </a:prstGeom>
            <a:solidFill>
              <a:srgbClr val="1E293B"/>
            </a:solidFill>
            <a:ln w="9525">
              <a:solidFill>
                <a:srgbClr val="06B6D4">
                  <a:alpha val="5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015877" y="5458778"/>
              <a:ext cx="635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t_cinema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103245" y="56640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影院信息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381500" y="5334000"/>
              <a:ext cx="1714500" cy="523875"/>
            </a:xfrm>
            <a:prstGeom prst="roundRect">
              <a:avLst>
                <a:gd name="adj" fmla="val 18182"/>
              </a:avLst>
            </a:prstGeom>
            <a:solidFill>
              <a:srgbClr val="1E293B"/>
            </a:solidFill>
            <a:ln w="9525">
              <a:solidFill>
                <a:srgbClr val="F59E0B">
                  <a:alpha val="50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959382" y="5458778"/>
              <a:ext cx="558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t_movie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008245" y="56640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电影信息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86500" y="5334000"/>
              <a:ext cx="1714500" cy="523875"/>
            </a:xfrm>
            <a:prstGeom prst="roundRect">
              <a:avLst>
                <a:gd name="adj" fmla="val 18182"/>
              </a:avLst>
            </a:prstGeom>
            <a:solidFill>
              <a:srgbClr val="1E293B"/>
            </a:solidFill>
            <a:ln w="9525">
              <a:solidFill>
                <a:srgbClr val="10B981">
                  <a:alpha val="50000"/>
                </a:srgbClr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60881" y="5458778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t_order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13245" y="56640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购票订单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191500" y="5334000"/>
              <a:ext cx="1714500" cy="523875"/>
            </a:xfrm>
            <a:prstGeom prst="roundRect">
              <a:avLst>
                <a:gd name="adj" fmla="val 18182"/>
              </a:avLst>
            </a:prstGeom>
            <a:solidFill>
              <a:srgbClr val="1E293B"/>
            </a:solidFill>
            <a:ln w="9525">
              <a:solidFill>
                <a:srgbClr val="8B5CF6">
                  <a:alpha val="50000"/>
                </a:srgbClr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692372" y="5458778"/>
              <a:ext cx="7127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t_showing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818245" y="56640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放映场次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679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4" grpId="0"/>
      <p:bldP spid="51" grpId="0"/>
      <p:bldP spid="61" grpId="0"/>
      <p:bldP spid="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5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0"/>
            <a:ext cx="11049000" cy="533400"/>
            <a:chOff x="571500" y="0"/>
            <a:chExt cx="11049000" cy="533400"/>
          </a:xfrm>
        </p:grpSpPr>
        <p:sp>
          <p:nvSpPr>
            <p:cNvPr id="5" name="Rectangle 5"/>
            <p:cNvSpPr/>
            <p:nvPr/>
          </p:nvSpPr>
          <p:spPr>
            <a:xfrm>
              <a:off x="571500" y="0"/>
              <a:ext cx="3810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470" y="2667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核心业务流程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523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71500" y="714375"/>
            <a:ext cx="11049000" cy="1666875"/>
            <a:chOff x="571500" y="714375"/>
            <a:chExt cx="11049000" cy="1666875"/>
          </a:xfrm>
        </p:grpSpPr>
        <p:sp>
          <p:nvSpPr>
            <p:cNvPr id="9" name="Rectangle 9"/>
            <p:cNvSpPr/>
            <p:nvPr/>
          </p:nvSpPr>
          <p:spPr>
            <a:xfrm>
              <a:off x="571500" y="714375"/>
              <a:ext cx="11049000" cy="1666875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714375"/>
              <a:ext cx="11049000" cy="342900"/>
            </a:xfrm>
            <a:prstGeom prst="roundRect">
              <a:avLst>
                <a:gd name="adj" fmla="val 38889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923925"/>
              <a:ext cx="11049000" cy="13335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28665" y="800100"/>
              <a:ext cx="190510" cy="152400"/>
            </a:xfrm>
            <a:custGeom>
              <a:avLst/>
              <a:gdLst/>
              <a:ahLst/>
              <a:cxnLst/>
              <a:rect l="l" t="t" r="r" b="b"/>
              <a:pathLst>
                <a:path w="190510" h="152400">
                  <a:moveTo>
                    <a:pt x="114310" y="0"/>
                  </a:moveTo>
                  <a:lnTo>
                    <a:pt x="114310" y="19050"/>
                  </a:lnTo>
                  <a:cubicBezTo>
                    <a:pt x="114310" y="24311"/>
                    <a:pt x="118574" y="28575"/>
                    <a:pt x="123835" y="28575"/>
                  </a:cubicBezTo>
                  <a:cubicBezTo>
                    <a:pt x="129095" y="28575"/>
                    <a:pt x="133360" y="24311"/>
                    <a:pt x="133360" y="19050"/>
                  </a:cubicBezTo>
                  <a:lnTo>
                    <a:pt x="133360" y="0"/>
                  </a:lnTo>
                  <a:lnTo>
                    <a:pt x="161935" y="0"/>
                  </a:lnTo>
                  <a:cubicBezTo>
                    <a:pt x="177716" y="0"/>
                    <a:pt x="190510" y="12793"/>
                    <a:pt x="190510" y="28575"/>
                  </a:cubicBezTo>
                  <a:lnTo>
                    <a:pt x="190510" y="57150"/>
                  </a:lnTo>
                  <a:cubicBezTo>
                    <a:pt x="190509" y="61979"/>
                    <a:pt x="186895" y="66043"/>
                    <a:pt x="182099" y="66608"/>
                  </a:cubicBezTo>
                  <a:lnTo>
                    <a:pt x="180985" y="66675"/>
                  </a:lnTo>
                  <a:cubicBezTo>
                    <a:pt x="175945" y="66681"/>
                    <a:pt x="171782" y="70611"/>
                    <a:pt x="171487" y="75642"/>
                  </a:cubicBezTo>
                  <a:cubicBezTo>
                    <a:pt x="171192" y="80673"/>
                    <a:pt x="174866" y="85063"/>
                    <a:pt x="179871" y="85658"/>
                  </a:cubicBezTo>
                  <a:lnTo>
                    <a:pt x="180985" y="85725"/>
                  </a:lnTo>
                  <a:cubicBezTo>
                    <a:pt x="186245" y="85725"/>
                    <a:pt x="190510" y="89989"/>
                    <a:pt x="190510" y="95250"/>
                  </a:cubicBezTo>
                  <a:lnTo>
                    <a:pt x="190510" y="123825"/>
                  </a:lnTo>
                  <a:cubicBezTo>
                    <a:pt x="190510" y="139607"/>
                    <a:pt x="177716" y="152400"/>
                    <a:pt x="161935" y="152400"/>
                  </a:cubicBezTo>
                  <a:lnTo>
                    <a:pt x="133360" y="152400"/>
                  </a:lnTo>
                  <a:lnTo>
                    <a:pt x="133360" y="133350"/>
                  </a:lnTo>
                  <a:cubicBezTo>
                    <a:pt x="133359" y="128521"/>
                    <a:pt x="129745" y="124457"/>
                    <a:pt x="124949" y="123892"/>
                  </a:cubicBezTo>
                  <a:lnTo>
                    <a:pt x="123835" y="123825"/>
                  </a:lnTo>
                  <a:cubicBezTo>
                    <a:pt x="118574" y="123825"/>
                    <a:pt x="114310" y="128089"/>
                    <a:pt x="114310" y="133350"/>
                  </a:cubicBezTo>
                  <a:lnTo>
                    <a:pt x="114310" y="152400"/>
                  </a:lnTo>
                  <a:lnTo>
                    <a:pt x="28585" y="152400"/>
                  </a:lnTo>
                  <a:cubicBezTo>
                    <a:pt x="12803" y="152400"/>
                    <a:pt x="10" y="139607"/>
                    <a:pt x="10" y="123825"/>
                  </a:cubicBezTo>
                  <a:lnTo>
                    <a:pt x="10" y="95250"/>
                  </a:lnTo>
                  <a:cubicBezTo>
                    <a:pt x="11" y="90421"/>
                    <a:pt x="3625" y="86357"/>
                    <a:pt x="8421" y="85792"/>
                  </a:cubicBezTo>
                  <a:lnTo>
                    <a:pt x="9535" y="85725"/>
                  </a:lnTo>
                  <a:cubicBezTo>
                    <a:pt x="14575" y="85719"/>
                    <a:pt x="18738" y="81789"/>
                    <a:pt x="19033" y="76758"/>
                  </a:cubicBezTo>
                  <a:cubicBezTo>
                    <a:pt x="19328" y="71727"/>
                    <a:pt x="15654" y="67337"/>
                    <a:pt x="10649" y="66742"/>
                  </a:cubicBezTo>
                  <a:lnTo>
                    <a:pt x="9535" y="66675"/>
                  </a:lnTo>
                  <a:cubicBezTo>
                    <a:pt x="4274" y="66675"/>
                    <a:pt x="10" y="62411"/>
                    <a:pt x="10" y="57150"/>
                  </a:cubicBezTo>
                  <a:lnTo>
                    <a:pt x="10" y="28575"/>
                  </a:lnTo>
                  <a:cubicBezTo>
                    <a:pt x="0" y="13802"/>
                    <a:pt x="11270" y="1465"/>
                    <a:pt x="25985" y="143"/>
                  </a:cubicBezTo>
                  <a:lnTo>
                    <a:pt x="28099" y="10"/>
                  </a:lnTo>
                  <a:close/>
                  <a:moveTo>
                    <a:pt x="123835" y="57150"/>
                  </a:moveTo>
                  <a:cubicBezTo>
                    <a:pt x="118574" y="57150"/>
                    <a:pt x="114310" y="61414"/>
                    <a:pt x="114310" y="66675"/>
                  </a:cubicBezTo>
                  <a:lnTo>
                    <a:pt x="114310" y="85725"/>
                  </a:lnTo>
                  <a:cubicBezTo>
                    <a:pt x="114310" y="90986"/>
                    <a:pt x="118574" y="95250"/>
                    <a:pt x="123835" y="95250"/>
                  </a:cubicBezTo>
                  <a:cubicBezTo>
                    <a:pt x="129095" y="95250"/>
                    <a:pt x="133360" y="90986"/>
                    <a:pt x="133360" y="85725"/>
                  </a:cubicBezTo>
                  <a:lnTo>
                    <a:pt x="133360" y="66675"/>
                  </a:lnTo>
                  <a:cubicBezTo>
                    <a:pt x="133360" y="61414"/>
                    <a:pt x="129095" y="57150"/>
                    <a:pt x="123835" y="57150"/>
                  </a:cubicBezTo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06805" y="778192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Georgia"/>
                  <a:ea typeface="Microsoft YaHei"/>
                  <a:cs typeface="Georgia"/>
                </a:rPr>
                <a:t>流程一：选座购票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09625" y="1238250"/>
              <a:ext cx="7524750" cy="459581"/>
              <a:chOff x="809625" y="1238250"/>
              <a:chExt cx="7524750" cy="459581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809625" y="1238250"/>
                <a:ext cx="12382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9525">
                <a:solidFill>
                  <a:srgbClr val="3B82F6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99423" y="13263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浏览电影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27724" y="1530191"/>
                <a:ext cx="8020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首页/列表/详情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2124075" y="1466850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3B82F6"/>
                </a:solidFill>
                <a:tailEnd type="triangle" w="lg" len="lg"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428875" y="1238250"/>
                <a:ext cx="12382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9525">
                <a:solidFill>
                  <a:srgbClr val="3B82F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718673" y="13263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选择场次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87241" y="1530191"/>
                <a:ext cx="5215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影院+时间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3743325" y="1466850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3B82F6"/>
                </a:solidFill>
                <a:tailEnd type="triangle" w="lg" len="lg"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048125" y="1238250"/>
                <a:ext cx="12382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14288">
                <a:solidFill>
                  <a:srgbClr val="F59E0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337923" y="13263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选座锁定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00991" y="1530191"/>
                <a:ext cx="53251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8×8座位图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5362575" y="1466850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3B82F6"/>
                </a:solidFill>
                <a:tailEnd type="triangle" w="lg" len="lg"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5667375" y="1238250"/>
                <a:ext cx="12382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9525">
                <a:solidFill>
                  <a:srgbClr val="3B82F6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957173" y="13263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提交订单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954232" y="1530191"/>
                <a:ext cx="66453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状态: 待支付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6981825" y="1466850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3B82F6"/>
                </a:solidFill>
                <a:tailEnd type="triangle" w="lg" len="lg"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7286625" y="1238250"/>
                <a:ext cx="10477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14288">
                <a:solidFill>
                  <a:srgbClr val="10B98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481173" y="13263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支付取票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478232" y="1530191"/>
                <a:ext cx="66453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状态: 已完成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9492424" y="2188845"/>
              <a:ext cx="11870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⚠ 超时10分钟自动释放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2571750"/>
            <a:ext cx="11049000" cy="1666875"/>
            <a:chOff x="571500" y="2571750"/>
            <a:chExt cx="11049000" cy="1666875"/>
          </a:xfrm>
        </p:grpSpPr>
        <p:sp>
          <p:nvSpPr>
            <p:cNvPr id="36" name="Rectangle 36"/>
            <p:cNvSpPr/>
            <p:nvPr/>
          </p:nvSpPr>
          <p:spPr>
            <a:xfrm>
              <a:off x="571500" y="2571750"/>
              <a:ext cx="11049000" cy="1666875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2571750"/>
              <a:ext cx="11049000" cy="342900"/>
            </a:xfrm>
            <a:prstGeom prst="roundRect">
              <a:avLst>
                <a:gd name="adj" fmla="val 38889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71500" y="2781300"/>
              <a:ext cx="11049000" cy="13335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66774" y="2647474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06805" y="26355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6B6D4"/>
                  </a:solidFill>
                  <a:latin typeface="Georgia"/>
                  <a:ea typeface="Microsoft YaHei"/>
                  <a:cs typeface="Georgia"/>
                </a:rPr>
                <a:t>流程二：排期管理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809625" y="3095625"/>
              <a:ext cx="8572500" cy="459581"/>
              <a:chOff x="809625" y="3095625"/>
              <a:chExt cx="8572500" cy="459581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09625" y="3095625"/>
                <a:ext cx="14287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9525">
                <a:solidFill>
                  <a:srgbClr val="06B6D4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194673" y="31837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新增排期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474" y="3387566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影院管理员操作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2314575" y="3324225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06B6D4"/>
                </a:solidFill>
                <a:tailEnd type="triangle" w="lg" len="lg"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2619375" y="3095625"/>
                <a:ext cx="14287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14288">
                <a:solidFill>
                  <a:srgbClr val="EF4444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3004423" y="31837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F4444"/>
                    </a:solidFill>
                    <a:latin typeface="Arial"/>
                    <a:ea typeface="Microsoft YaHei"/>
                    <a:cs typeface="Arial"/>
                  </a:rPr>
                  <a:t>冲突检测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993231" y="338756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同影厅时间段</a:t>
                </a: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4124325" y="3324225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06B6D4"/>
                </a:solidFill>
                <a:tailEnd type="triangle" w="lg" len="lg"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4429125" y="3095625"/>
                <a:ext cx="14287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9525">
                <a:solidFill>
                  <a:srgbClr val="06B6D4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814173" y="31837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保存排期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912995" y="338756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等待审核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5934075" y="3324225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06B6D4"/>
                </a:solidFill>
                <a:tailEnd type="triangle" w="lg" len="lg"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6238875" y="3095625"/>
                <a:ext cx="14287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14288">
                <a:solidFill>
                  <a:srgbClr val="F59E0B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545163" y="318373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管理员审核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692491" y="3387566"/>
                <a:ext cx="5215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通过/驳回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7743825" y="3324225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06B6D4"/>
                </a:solidFill>
                <a:tailEnd type="triangle" w="lg" len="lg"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048625" y="3095625"/>
                <a:ext cx="1333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14288">
                <a:solidFill>
                  <a:srgbClr val="10B981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386048" y="31837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开始售票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429863" y="3387566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审核通过后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571500" y="4429125"/>
            <a:ext cx="11049000" cy="1666875"/>
            <a:chOff x="571500" y="4429125"/>
            <a:chExt cx="11049000" cy="1666875"/>
          </a:xfrm>
        </p:grpSpPr>
        <p:sp>
          <p:nvSpPr>
            <p:cNvPr id="62" name="Rectangle 62"/>
            <p:cNvSpPr/>
            <p:nvPr/>
          </p:nvSpPr>
          <p:spPr>
            <a:xfrm>
              <a:off x="571500" y="4429125"/>
              <a:ext cx="11049000" cy="1666875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71500" y="4429125"/>
              <a:ext cx="11049000" cy="342900"/>
            </a:xfrm>
            <a:prstGeom prst="roundRect">
              <a:avLst>
                <a:gd name="adj" fmla="val 38889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71500" y="4638675"/>
              <a:ext cx="11049000" cy="13335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828675" y="4491533"/>
              <a:ext cx="200311" cy="200639"/>
            </a:xfrm>
            <a:custGeom>
              <a:avLst/>
              <a:gdLst/>
              <a:ahLst/>
              <a:cxnLst/>
              <a:rect l="l" t="t" r="r" b="b"/>
              <a:pathLst>
                <a:path w="200311" h="200639">
                  <a:moveTo>
                    <a:pt x="142875" y="17030"/>
                  </a:moveTo>
                  <a:cubicBezTo>
                    <a:pt x="182569" y="39949"/>
                    <a:pt x="200311" y="87890"/>
                    <a:pt x="185099" y="131128"/>
                  </a:cubicBezTo>
                  <a:cubicBezTo>
                    <a:pt x="169888" y="174367"/>
                    <a:pt x="126037" y="200639"/>
                    <a:pt x="80736" y="193656"/>
                  </a:cubicBezTo>
                  <a:cubicBezTo>
                    <a:pt x="35435" y="186673"/>
                    <a:pt x="1532" y="148415"/>
                    <a:pt x="48" y="102603"/>
                  </a:cubicBezTo>
                  <a:lnTo>
                    <a:pt x="0" y="99517"/>
                  </a:lnTo>
                  <a:lnTo>
                    <a:pt x="48" y="96431"/>
                  </a:lnTo>
                  <a:cubicBezTo>
                    <a:pt x="1133" y="62969"/>
                    <a:pt x="19706" y="32534"/>
                    <a:pt x="48967" y="16267"/>
                  </a:cubicBezTo>
                  <a:cubicBezTo>
                    <a:pt x="78228" y="0"/>
                    <a:pt x="113882" y="290"/>
                    <a:pt x="142875" y="17030"/>
                  </a:cubicBezTo>
                  <a:close/>
                  <a:moveTo>
                    <a:pt x="130559" y="73732"/>
                  </a:moveTo>
                  <a:cubicBezTo>
                    <a:pt x="127166" y="70339"/>
                    <a:pt x="121778" y="70001"/>
                    <a:pt x="117986" y="72942"/>
                  </a:cubicBezTo>
                  <a:lnTo>
                    <a:pt x="117091" y="73732"/>
                  </a:lnTo>
                  <a:lnTo>
                    <a:pt x="85725" y="105089"/>
                  </a:lnTo>
                  <a:lnTo>
                    <a:pt x="73409" y="92782"/>
                  </a:lnTo>
                  <a:lnTo>
                    <a:pt x="72514" y="91992"/>
                  </a:lnTo>
                  <a:cubicBezTo>
                    <a:pt x="68722" y="89053"/>
                    <a:pt x="63336" y="89392"/>
                    <a:pt x="59943" y="92785"/>
                  </a:cubicBezTo>
                  <a:cubicBezTo>
                    <a:pt x="56551" y="96177"/>
                    <a:pt x="56211" y="101564"/>
                    <a:pt x="59150" y="105355"/>
                  </a:cubicBezTo>
                  <a:lnTo>
                    <a:pt x="59941" y="106251"/>
                  </a:lnTo>
                  <a:lnTo>
                    <a:pt x="78991" y="125301"/>
                  </a:lnTo>
                  <a:lnTo>
                    <a:pt x="79886" y="126091"/>
                  </a:lnTo>
                  <a:cubicBezTo>
                    <a:pt x="83322" y="128757"/>
                    <a:pt x="88128" y="128757"/>
                    <a:pt x="91564" y="126091"/>
                  </a:cubicBezTo>
                  <a:lnTo>
                    <a:pt x="92459" y="125301"/>
                  </a:lnTo>
                  <a:lnTo>
                    <a:pt x="130559" y="87201"/>
                  </a:lnTo>
                  <a:lnTo>
                    <a:pt x="131350" y="86305"/>
                  </a:lnTo>
                  <a:cubicBezTo>
                    <a:pt x="134291" y="82514"/>
                    <a:pt x="133952" y="77126"/>
                    <a:pt x="130559" y="73732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06805" y="4492942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Georgia"/>
                  <a:ea typeface="Microsoft YaHei"/>
                  <a:cs typeface="Georgia"/>
                </a:rPr>
                <a:t>流程三：审核工作流</a:t>
              </a:r>
            </a:p>
          </p:txBody>
        </p:sp>
        <p:grpSp>
          <p:nvGrpSpPr>
            <p:cNvPr id="85" name="Group 85"/>
            <p:cNvGrpSpPr/>
            <p:nvPr/>
          </p:nvGrpSpPr>
          <p:grpSpPr>
            <a:xfrm>
              <a:off x="809625" y="4810125"/>
              <a:ext cx="8572500" cy="857250"/>
              <a:chOff x="809625" y="4810125"/>
              <a:chExt cx="8572500" cy="85725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809625" y="4953000"/>
                <a:ext cx="1714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1101269" y="504110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影院管理员注册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326356" y="52449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提交影院信息</a:t>
                </a:r>
              </a:p>
            </p:txBody>
          </p:sp>
          <p:sp>
            <p:nvSpPr>
              <p:cNvPr id="70" name="Line 70"/>
              <p:cNvSpPr/>
              <p:nvPr/>
            </p:nvSpPr>
            <p:spPr>
              <a:xfrm>
                <a:off x="2600325" y="5181600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F59E0B"/>
                </a:solidFill>
                <a:tailEnd type="triangle" w="lg" len="lg"/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2905125" y="4953000"/>
                <a:ext cx="19050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0F172A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3134499" y="50411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等待超级管理员审核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3517106" y="52449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审核影院信息</a:t>
                </a:r>
              </a:p>
            </p:txBody>
          </p:sp>
          <p:sp>
            <p:nvSpPr>
              <p:cNvPr id="74" name="Line 74"/>
              <p:cNvSpPr/>
              <p:nvPr/>
            </p:nvSpPr>
            <p:spPr>
              <a:xfrm>
                <a:off x="4886325" y="5181600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F59E0B"/>
                </a:solidFill>
                <a:tailEnd type="triangle" w="lg" len="lg"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5191125" y="4810125"/>
                <a:ext cx="190500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0F172A"/>
              </a:solidFill>
              <a:ln w="14288">
                <a:solidFill>
                  <a:srgbClr val="10B981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5814298" y="49458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审核通过</a:t>
                </a:r>
              </a:p>
            </p:txBody>
          </p:sp>
          <p:sp>
            <p:nvSpPr>
              <p:cNvPr id="77" name="Rectangle 77"/>
              <p:cNvSpPr/>
              <p:nvPr/>
            </p:nvSpPr>
            <p:spPr>
              <a:xfrm>
                <a:off x="5191125" y="5286375"/>
                <a:ext cx="190500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0F172A"/>
              </a:solidFill>
              <a:ln w="14288">
                <a:solidFill>
                  <a:srgbClr val="EF4444"/>
                </a:solidFill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5814298" y="54221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F4444"/>
                    </a:solidFill>
                    <a:latin typeface="Arial"/>
                    <a:ea typeface="Microsoft YaHei"/>
                    <a:cs typeface="Arial"/>
                  </a:rPr>
                  <a:t>审核驳回</a:t>
                </a: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7172325" y="5000625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10B981"/>
                </a:solidFill>
                <a:tailEnd type="triangle" w="lg" len="lg"/>
              </a:ln>
            </p:spPr>
          </p:sp>
          <p:sp>
            <p:nvSpPr>
              <p:cNvPr id="80" name="Line 80"/>
              <p:cNvSpPr/>
              <p:nvPr/>
            </p:nvSpPr>
            <p:spPr>
              <a:xfrm>
                <a:off x="7172325" y="5476875"/>
                <a:ext cx="257175" cy="1"/>
              </a:xfrm>
              <a:prstGeom prst="line">
                <a:avLst/>
              </a:prstGeom>
              <a:noFill/>
              <a:ln w="19050">
                <a:solidFill>
                  <a:srgbClr val="EF4444"/>
                </a:solidFill>
                <a:tailEnd type="triangle" w="lg" len="lg"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7477125" y="4810125"/>
                <a:ext cx="190500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0F172A"/>
              </a:solidFill>
              <a:ln w="14288">
                <a:solidFill>
                  <a:srgbClr val="10B981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7548979" y="4945856"/>
                <a:ext cx="176129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绑定影院ID · 可正常使用</a:t>
                </a:r>
              </a:p>
            </p:txBody>
          </p:sp>
          <p:sp>
            <p:nvSpPr>
              <p:cNvPr id="83" name="Rectangle 83"/>
              <p:cNvSpPr/>
              <p:nvPr/>
            </p:nvSpPr>
            <p:spPr>
              <a:xfrm>
                <a:off x="7477125" y="5286375"/>
                <a:ext cx="190500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0F172A"/>
              </a:solidFill>
              <a:ln w="14288">
                <a:solidFill>
                  <a:srgbClr val="EF4444"/>
                </a:solidFill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942778" y="542210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F4444"/>
                    </a:solidFill>
                    <a:latin typeface="Arial"/>
                    <a:ea typeface="Microsoft YaHei"/>
                    <a:cs typeface="Arial"/>
                  </a:rPr>
                  <a:t>返回驳回原因</a:t>
                </a:r>
              </a:p>
            </p:txBody>
          </p:sp>
        </p:grpSp>
      </p:grpSp>
      <p:sp>
        <p:nvSpPr>
          <p:cNvPr id="87" name="TextBox 87"/>
          <p:cNvSpPr txBox="1"/>
          <p:nvPr/>
        </p:nvSpPr>
        <p:spPr>
          <a:xfrm>
            <a:off x="11679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61" grpId="0"/>
      <p:bldP spid="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5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0"/>
            <a:ext cx="11049000" cy="533400"/>
            <a:chOff x="571500" y="0"/>
            <a:chExt cx="11049000" cy="533400"/>
          </a:xfrm>
        </p:grpSpPr>
        <p:sp>
          <p:nvSpPr>
            <p:cNvPr id="5" name="Rectangle 5"/>
            <p:cNvSpPr/>
            <p:nvPr/>
          </p:nvSpPr>
          <p:spPr>
            <a:xfrm>
              <a:off x="571500" y="0"/>
              <a:ext cx="3810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470" y="2667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关键技术实现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523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762000"/>
            <a:ext cx="5334000" cy="2719388"/>
            <a:chOff x="571500" y="762000"/>
            <a:chExt cx="5334000" cy="2719388"/>
          </a:xfrm>
        </p:grpSpPr>
        <p:sp>
          <p:nvSpPr>
            <p:cNvPr id="9" name="Rectangle 9"/>
            <p:cNvSpPr/>
            <p:nvPr/>
          </p:nvSpPr>
          <p:spPr>
            <a:xfrm>
              <a:off x="571500" y="762000"/>
              <a:ext cx="5334000" cy="2667000"/>
            </a:xfrm>
            <a:prstGeom prst="roundRect">
              <a:avLst>
                <a:gd name="adj" fmla="val 5714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762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600" y="1130300"/>
              <a:ext cx="279400" cy="349250"/>
            </a:xfrm>
            <a:custGeom>
              <a:avLst/>
              <a:gdLst/>
              <a:ahLst/>
              <a:cxnLst/>
              <a:rect l="l" t="t" r="r" b="b"/>
              <a:pathLst>
                <a:path w="279400" h="349250">
                  <a:moveTo>
                    <a:pt x="139700" y="0"/>
                  </a:moveTo>
                  <a:cubicBezTo>
                    <a:pt x="187921" y="0"/>
                    <a:pt x="227013" y="39091"/>
                    <a:pt x="227013" y="87312"/>
                  </a:cubicBezTo>
                  <a:lnTo>
                    <a:pt x="227013" y="139700"/>
                  </a:lnTo>
                  <a:cubicBezTo>
                    <a:pt x="255945" y="139700"/>
                    <a:pt x="279400" y="163155"/>
                    <a:pt x="279400" y="192088"/>
                  </a:cubicBezTo>
                  <a:lnTo>
                    <a:pt x="279400" y="296862"/>
                  </a:lnTo>
                  <a:cubicBezTo>
                    <a:pt x="279400" y="325795"/>
                    <a:pt x="255945" y="349250"/>
                    <a:pt x="227013" y="349250"/>
                  </a:cubicBezTo>
                  <a:lnTo>
                    <a:pt x="52388" y="349250"/>
                  </a:lnTo>
                  <a:cubicBezTo>
                    <a:pt x="23455" y="349250"/>
                    <a:pt x="0" y="325795"/>
                    <a:pt x="0" y="296862"/>
                  </a:cubicBezTo>
                  <a:lnTo>
                    <a:pt x="0" y="192088"/>
                  </a:lnTo>
                  <a:cubicBezTo>
                    <a:pt x="0" y="163155"/>
                    <a:pt x="23455" y="139700"/>
                    <a:pt x="52388" y="139700"/>
                  </a:cubicBezTo>
                  <a:lnTo>
                    <a:pt x="52388" y="87312"/>
                  </a:lnTo>
                  <a:cubicBezTo>
                    <a:pt x="52388" y="39091"/>
                    <a:pt x="91479" y="0"/>
                    <a:pt x="139700" y="0"/>
                  </a:cubicBezTo>
                  <a:moveTo>
                    <a:pt x="139700" y="209550"/>
                  </a:moveTo>
                  <a:cubicBezTo>
                    <a:pt x="121423" y="209544"/>
                    <a:pt x="106233" y="223630"/>
                    <a:pt x="104862" y="241856"/>
                  </a:cubicBezTo>
                  <a:lnTo>
                    <a:pt x="104775" y="244475"/>
                  </a:lnTo>
                  <a:cubicBezTo>
                    <a:pt x="104775" y="263764"/>
                    <a:pt x="120411" y="279400"/>
                    <a:pt x="139700" y="279400"/>
                  </a:cubicBezTo>
                  <a:cubicBezTo>
                    <a:pt x="158989" y="279400"/>
                    <a:pt x="174625" y="263764"/>
                    <a:pt x="174625" y="244475"/>
                  </a:cubicBezTo>
                  <a:cubicBezTo>
                    <a:pt x="174625" y="225186"/>
                    <a:pt x="158989" y="209550"/>
                    <a:pt x="139700" y="209550"/>
                  </a:cubicBezTo>
                  <a:moveTo>
                    <a:pt x="139700" y="34925"/>
                  </a:moveTo>
                  <a:cubicBezTo>
                    <a:pt x="110767" y="34925"/>
                    <a:pt x="87313" y="58380"/>
                    <a:pt x="87313" y="87312"/>
                  </a:cubicBezTo>
                  <a:lnTo>
                    <a:pt x="87313" y="139700"/>
                  </a:lnTo>
                  <a:lnTo>
                    <a:pt x="192088" y="139700"/>
                  </a:lnTo>
                  <a:lnTo>
                    <a:pt x="192088" y="87312"/>
                  </a:lnTo>
                  <a:cubicBezTo>
                    <a:pt x="192088" y="58380"/>
                    <a:pt x="168633" y="34925"/>
                    <a:pt x="139700" y="34925"/>
                  </a:cubicBezTo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49981" y="1631632"/>
              <a:ext cx="14627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JWT 认证机制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" y="204787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165" y="2125028"/>
              <a:ext cx="1755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登录后生成 Token 返回前端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242887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165" y="2506028"/>
              <a:ext cx="3261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前端 localStorage 存储，Axios 请求头携带 Bearer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9625" y="280987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165" y="2887028"/>
              <a:ext cx="2862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AuthInterceptor 拦截 /api/**，解析 Token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" y="319087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165" y="3268028"/>
              <a:ext cx="2462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@RequireRole 注解实现声明式角色控制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762000"/>
            <a:ext cx="5334000" cy="2719388"/>
            <a:chOff x="6286500" y="762000"/>
            <a:chExt cx="5334000" cy="2719388"/>
          </a:xfrm>
        </p:grpSpPr>
        <p:sp>
          <p:nvSpPr>
            <p:cNvPr id="22" name="Rectangle 22"/>
            <p:cNvSpPr/>
            <p:nvPr/>
          </p:nvSpPr>
          <p:spPr>
            <a:xfrm>
              <a:off x="6286500" y="762000"/>
              <a:ext cx="5334000" cy="2667000"/>
            </a:xfrm>
            <a:prstGeom prst="roundRect">
              <a:avLst>
                <a:gd name="adj" fmla="val 5714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762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8702673" y="1122478"/>
              <a:ext cx="367706" cy="369140"/>
            </a:xfrm>
            <a:custGeom>
              <a:avLst/>
              <a:gdLst/>
              <a:ahLst/>
              <a:cxnLst/>
              <a:rect l="l" t="t" r="r" b="b"/>
              <a:pathLst>
                <a:path w="367706" h="369140">
                  <a:moveTo>
                    <a:pt x="261940" y="31222"/>
                  </a:moveTo>
                  <a:cubicBezTo>
                    <a:pt x="335331" y="73594"/>
                    <a:pt x="367706" y="162544"/>
                    <a:pt x="338720" y="242178"/>
                  </a:cubicBezTo>
                  <a:cubicBezTo>
                    <a:pt x="309735" y="321812"/>
                    <a:pt x="227758" y="369140"/>
                    <a:pt x="144301" y="354423"/>
                  </a:cubicBezTo>
                  <a:cubicBezTo>
                    <a:pt x="60844" y="339706"/>
                    <a:pt x="0" y="267192"/>
                    <a:pt x="2" y="182447"/>
                  </a:cubicBezTo>
                  <a:lnTo>
                    <a:pt x="89" y="176789"/>
                  </a:lnTo>
                  <a:cubicBezTo>
                    <a:pt x="2079" y="115443"/>
                    <a:pt x="36129" y="59646"/>
                    <a:pt x="89775" y="29823"/>
                  </a:cubicBezTo>
                  <a:cubicBezTo>
                    <a:pt x="143421" y="0"/>
                    <a:pt x="208785" y="531"/>
                    <a:pt x="261940" y="31222"/>
                  </a:cubicBezTo>
                  <a:moveTo>
                    <a:pt x="167625" y="198443"/>
                  </a:moveTo>
                  <a:lnTo>
                    <a:pt x="168533" y="198809"/>
                  </a:lnTo>
                  <a:lnTo>
                    <a:pt x="169930" y="199264"/>
                  </a:lnTo>
                  <a:lnTo>
                    <a:pt x="171327" y="199595"/>
                  </a:lnTo>
                  <a:lnTo>
                    <a:pt x="172584" y="199787"/>
                  </a:lnTo>
                  <a:lnTo>
                    <a:pt x="174627" y="199910"/>
                  </a:lnTo>
                  <a:lnTo>
                    <a:pt x="175954" y="199857"/>
                  </a:lnTo>
                  <a:lnTo>
                    <a:pt x="178312" y="199508"/>
                  </a:lnTo>
                  <a:lnTo>
                    <a:pt x="179744" y="199159"/>
                  </a:lnTo>
                  <a:lnTo>
                    <a:pt x="181542" y="198478"/>
                  </a:lnTo>
                  <a:lnTo>
                    <a:pt x="182817" y="197867"/>
                  </a:lnTo>
                  <a:lnTo>
                    <a:pt x="184179" y="197063"/>
                  </a:lnTo>
                  <a:lnTo>
                    <a:pt x="185227" y="196330"/>
                  </a:lnTo>
                  <a:lnTo>
                    <a:pt x="186624" y="195125"/>
                  </a:lnTo>
                  <a:lnTo>
                    <a:pt x="188073" y="193588"/>
                  </a:lnTo>
                  <a:lnTo>
                    <a:pt x="189156" y="192139"/>
                  </a:lnTo>
                  <a:lnTo>
                    <a:pt x="224081" y="139751"/>
                  </a:lnTo>
                  <a:cubicBezTo>
                    <a:pt x="229434" y="131727"/>
                    <a:pt x="227268" y="120883"/>
                    <a:pt x="219244" y="115531"/>
                  </a:cubicBezTo>
                  <a:cubicBezTo>
                    <a:pt x="211220" y="110178"/>
                    <a:pt x="200376" y="112344"/>
                    <a:pt x="195023" y="120368"/>
                  </a:cubicBezTo>
                  <a:lnTo>
                    <a:pt x="192090" y="124751"/>
                  </a:lnTo>
                  <a:lnTo>
                    <a:pt x="192090" y="95135"/>
                  </a:lnTo>
                  <a:cubicBezTo>
                    <a:pt x="192088" y="86282"/>
                    <a:pt x="185463" y="78830"/>
                    <a:pt x="176670" y="77794"/>
                  </a:cubicBezTo>
                  <a:lnTo>
                    <a:pt x="174627" y="77672"/>
                  </a:lnTo>
                  <a:cubicBezTo>
                    <a:pt x="164983" y="77672"/>
                    <a:pt x="157165" y="85490"/>
                    <a:pt x="157165" y="95135"/>
                  </a:cubicBezTo>
                  <a:lnTo>
                    <a:pt x="157165" y="182901"/>
                  </a:lnTo>
                  <a:lnTo>
                    <a:pt x="157322" y="184735"/>
                  </a:lnTo>
                  <a:lnTo>
                    <a:pt x="157671" y="186603"/>
                  </a:lnTo>
                  <a:lnTo>
                    <a:pt x="158370" y="188856"/>
                  </a:lnTo>
                  <a:lnTo>
                    <a:pt x="159208" y="190637"/>
                  </a:lnTo>
                  <a:lnTo>
                    <a:pt x="160011" y="191999"/>
                  </a:lnTo>
                  <a:lnTo>
                    <a:pt x="160744" y="193047"/>
                  </a:lnTo>
                  <a:lnTo>
                    <a:pt x="161949" y="194444"/>
                  </a:lnTo>
                  <a:lnTo>
                    <a:pt x="163486" y="195893"/>
                  </a:lnTo>
                  <a:lnTo>
                    <a:pt x="164935" y="196976"/>
                  </a:lnTo>
                  <a:lnTo>
                    <a:pt x="166507" y="197901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6794" y="16316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锁座与超时释放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24625" y="204787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4165" y="2125028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下单时订单状态 = 待支付，座位被锁定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24625" y="242887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4165" y="2506028"/>
              <a:ext cx="2462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lock_expire_time = 下单时间 + 10分钟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24625" y="280987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4165" y="2887028"/>
              <a:ext cx="1895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Spring 定时任务扫描超时订单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24625" y="319087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4165" y="3268028"/>
              <a:ext cx="27290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自动释放座位 + 更新订单状态 → 已超时取消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3714750"/>
            <a:ext cx="5334000" cy="2719388"/>
            <a:chOff x="571500" y="3714750"/>
            <a:chExt cx="5334000" cy="2719388"/>
          </a:xfrm>
        </p:grpSpPr>
        <p:sp>
          <p:nvSpPr>
            <p:cNvPr id="35" name="Rectangle 35"/>
            <p:cNvSpPr/>
            <p:nvPr/>
          </p:nvSpPr>
          <p:spPr>
            <a:xfrm>
              <a:off x="571500" y="3714750"/>
              <a:ext cx="5334000" cy="2667000"/>
            </a:xfrm>
            <a:prstGeom prst="roundRect">
              <a:avLst>
                <a:gd name="adj" fmla="val 5714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371475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987675" y="4083050"/>
              <a:ext cx="349325" cy="350911"/>
            </a:xfrm>
            <a:custGeom>
              <a:avLst/>
              <a:gdLst/>
              <a:ahLst/>
              <a:cxnLst/>
              <a:rect l="l" t="t" r="r" b="b"/>
              <a:pathLst>
                <a:path w="349325" h="350911">
                  <a:moveTo>
                    <a:pt x="174625" y="0"/>
                  </a:moveTo>
                  <a:cubicBezTo>
                    <a:pt x="271070" y="0"/>
                    <a:pt x="349250" y="78180"/>
                    <a:pt x="349250" y="174625"/>
                  </a:cubicBezTo>
                  <a:cubicBezTo>
                    <a:pt x="349325" y="270018"/>
                    <a:pt x="272835" y="347820"/>
                    <a:pt x="177454" y="349365"/>
                  </a:cubicBezTo>
                  <a:cubicBezTo>
                    <a:pt x="82073" y="350911"/>
                    <a:pt x="3103" y="275629"/>
                    <a:pt x="87" y="180283"/>
                  </a:cubicBezTo>
                  <a:lnTo>
                    <a:pt x="0" y="174625"/>
                  </a:lnTo>
                  <a:lnTo>
                    <a:pt x="70" y="169735"/>
                  </a:lnTo>
                  <a:cubicBezTo>
                    <a:pt x="2654" y="75560"/>
                    <a:pt x="79804" y="0"/>
                    <a:pt x="174625" y="0"/>
                  </a:cubicBezTo>
                  <a:close/>
                  <a:moveTo>
                    <a:pt x="174800" y="227012"/>
                  </a:moveTo>
                  <a:lnTo>
                    <a:pt x="172582" y="227135"/>
                  </a:lnTo>
                  <a:cubicBezTo>
                    <a:pt x="163797" y="228180"/>
                    <a:pt x="157182" y="235629"/>
                    <a:pt x="157182" y="244475"/>
                  </a:cubicBezTo>
                  <a:cubicBezTo>
                    <a:pt x="157182" y="253321"/>
                    <a:pt x="163797" y="260770"/>
                    <a:pt x="172582" y="261815"/>
                  </a:cubicBezTo>
                  <a:lnTo>
                    <a:pt x="174625" y="261938"/>
                  </a:lnTo>
                  <a:lnTo>
                    <a:pt x="176843" y="261815"/>
                  </a:lnTo>
                  <a:cubicBezTo>
                    <a:pt x="185627" y="260770"/>
                    <a:pt x="192243" y="253321"/>
                    <a:pt x="192243" y="244475"/>
                  </a:cubicBezTo>
                  <a:cubicBezTo>
                    <a:pt x="192243" y="235629"/>
                    <a:pt x="185627" y="228180"/>
                    <a:pt x="176843" y="227135"/>
                  </a:cubicBezTo>
                  <a:lnTo>
                    <a:pt x="174800" y="227012"/>
                  </a:lnTo>
                  <a:close/>
                  <a:moveTo>
                    <a:pt x="174625" y="87312"/>
                  </a:moveTo>
                  <a:cubicBezTo>
                    <a:pt x="165772" y="87314"/>
                    <a:pt x="158321" y="93940"/>
                    <a:pt x="157285" y="102732"/>
                  </a:cubicBezTo>
                  <a:lnTo>
                    <a:pt x="157162" y="104775"/>
                  </a:lnTo>
                  <a:lnTo>
                    <a:pt x="157162" y="174625"/>
                  </a:lnTo>
                  <a:lnTo>
                    <a:pt x="157285" y="176668"/>
                  </a:lnTo>
                  <a:cubicBezTo>
                    <a:pt x="158330" y="185453"/>
                    <a:pt x="165779" y="192068"/>
                    <a:pt x="174625" y="192068"/>
                  </a:cubicBezTo>
                  <a:cubicBezTo>
                    <a:pt x="183471" y="192068"/>
                    <a:pt x="190920" y="185453"/>
                    <a:pt x="191965" y="176668"/>
                  </a:cubicBezTo>
                  <a:lnTo>
                    <a:pt x="192087" y="174625"/>
                  </a:lnTo>
                  <a:lnTo>
                    <a:pt x="192087" y="104775"/>
                  </a:lnTo>
                  <a:lnTo>
                    <a:pt x="191965" y="102732"/>
                  </a:lnTo>
                  <a:cubicBezTo>
                    <a:pt x="190929" y="93940"/>
                    <a:pt x="183478" y="87314"/>
                    <a:pt x="174625" y="87312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467308" y="45843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排期冲突检测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09625" y="500062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9165" y="5077778"/>
              <a:ext cx="24839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新增/编辑排期时查询同影厅时间段重叠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9625" y="538162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9165" y="5458778"/>
              <a:ext cx="43742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SQL条件: start_time &lt; #{endTime} AND end_time &gt; #{startTime}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9625" y="576262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9165" y="5839778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若存在重叠 → 返回错误提示，阻止保存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9625" y="614362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9165" y="6220778"/>
              <a:ext cx="2609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数据库唯一约束 + 前端即时校验 双重保障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0" y="3714750"/>
            <a:ext cx="5334000" cy="2719388"/>
            <a:chOff x="6286500" y="3714750"/>
            <a:chExt cx="5334000" cy="2719388"/>
          </a:xfrm>
        </p:grpSpPr>
        <p:sp>
          <p:nvSpPr>
            <p:cNvPr id="48" name="Rectangle 48"/>
            <p:cNvSpPr/>
            <p:nvPr/>
          </p:nvSpPr>
          <p:spPr>
            <a:xfrm>
              <a:off x="6286500" y="3714750"/>
              <a:ext cx="5334000" cy="2667000"/>
            </a:xfrm>
            <a:prstGeom prst="roundRect">
              <a:avLst>
                <a:gd name="adj" fmla="val 5714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86500" y="371475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720136" y="4083050"/>
              <a:ext cx="314327" cy="349250"/>
              <a:chOff x="8720136" y="4083050"/>
              <a:chExt cx="314327" cy="3492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720138" y="4322828"/>
                <a:ext cx="314325" cy="109472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109472">
                    <a:moveTo>
                      <a:pt x="0" y="0"/>
                    </a:moveTo>
                    <a:cubicBezTo>
                      <a:pt x="34366" y="26316"/>
                      <a:pt x="91399" y="39622"/>
                      <a:pt x="157162" y="39622"/>
                    </a:cubicBezTo>
                    <a:cubicBezTo>
                      <a:pt x="222821" y="39622"/>
                      <a:pt x="279837" y="26351"/>
                      <a:pt x="314325" y="297"/>
                    </a:cubicBezTo>
                    <a:lnTo>
                      <a:pt x="314325" y="39622"/>
                    </a:lnTo>
                    <a:cubicBezTo>
                      <a:pt x="314325" y="81969"/>
                      <a:pt x="246309" y="108355"/>
                      <a:pt x="162523" y="109437"/>
                    </a:cubicBezTo>
                    <a:lnTo>
                      <a:pt x="157162" y="109472"/>
                    </a:lnTo>
                    <a:cubicBezTo>
                      <a:pt x="70933" y="109472"/>
                      <a:pt x="0" y="82877"/>
                      <a:pt x="0" y="39622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20138" y="4218053"/>
                <a:ext cx="314325" cy="109472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109472">
                    <a:moveTo>
                      <a:pt x="0" y="0"/>
                    </a:moveTo>
                    <a:cubicBezTo>
                      <a:pt x="34366" y="26316"/>
                      <a:pt x="91399" y="39622"/>
                      <a:pt x="157162" y="39622"/>
                    </a:cubicBezTo>
                    <a:cubicBezTo>
                      <a:pt x="222821" y="39622"/>
                      <a:pt x="279837" y="26351"/>
                      <a:pt x="314325" y="297"/>
                    </a:cubicBezTo>
                    <a:lnTo>
                      <a:pt x="314325" y="39622"/>
                    </a:lnTo>
                    <a:cubicBezTo>
                      <a:pt x="314325" y="82877"/>
                      <a:pt x="243392" y="109472"/>
                      <a:pt x="157162" y="109472"/>
                    </a:cubicBezTo>
                    <a:cubicBezTo>
                      <a:pt x="73377" y="109472"/>
                      <a:pt x="4016" y="84361"/>
                      <a:pt x="367" y="43202"/>
                    </a:cubicBezTo>
                    <a:lnTo>
                      <a:pt x="87" y="41439"/>
                    </a:lnTo>
                    <a:lnTo>
                      <a:pt x="0" y="39622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20136" y="4083050"/>
                <a:ext cx="314326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314326" h="139700">
                    <a:moveTo>
                      <a:pt x="157164" y="0"/>
                    </a:moveTo>
                    <a:cubicBezTo>
                      <a:pt x="175342" y="0"/>
                      <a:pt x="192857" y="1187"/>
                      <a:pt x="209150" y="3458"/>
                    </a:cubicBezTo>
                    <a:lnTo>
                      <a:pt x="217340" y="4697"/>
                    </a:lnTo>
                    <a:cubicBezTo>
                      <a:pt x="227119" y="6327"/>
                      <a:pt x="236350" y="8353"/>
                      <a:pt x="245035" y="10774"/>
                    </a:cubicBezTo>
                    <a:lnTo>
                      <a:pt x="252719" y="13062"/>
                    </a:lnTo>
                    <a:lnTo>
                      <a:pt x="254028" y="13481"/>
                    </a:lnTo>
                    <a:cubicBezTo>
                      <a:pt x="258781" y="15044"/>
                      <a:pt x="263470" y="16791"/>
                      <a:pt x="268086" y="18720"/>
                    </a:cubicBezTo>
                    <a:lnTo>
                      <a:pt x="271561" y="20222"/>
                    </a:lnTo>
                    <a:cubicBezTo>
                      <a:pt x="277789" y="23039"/>
                      <a:pt x="283418" y="26124"/>
                      <a:pt x="288447" y="29477"/>
                    </a:cubicBezTo>
                    <a:cubicBezTo>
                      <a:pt x="290368" y="30757"/>
                      <a:pt x="292190" y="32067"/>
                      <a:pt x="293913" y="33406"/>
                    </a:cubicBezTo>
                    <a:cubicBezTo>
                      <a:pt x="298277" y="36793"/>
                      <a:pt x="302202" y="40711"/>
                      <a:pt x="305595" y="45071"/>
                    </a:cubicBezTo>
                    <a:lnTo>
                      <a:pt x="307184" y="47306"/>
                    </a:lnTo>
                    <a:cubicBezTo>
                      <a:pt x="307999" y="48528"/>
                      <a:pt x="308750" y="49756"/>
                      <a:pt x="309437" y="50990"/>
                    </a:cubicBezTo>
                    <a:lnTo>
                      <a:pt x="310659" y="53418"/>
                    </a:lnTo>
                    <a:cubicBezTo>
                      <a:pt x="312557" y="57492"/>
                      <a:pt x="313721" y="61742"/>
                      <a:pt x="314152" y="66165"/>
                    </a:cubicBezTo>
                    <a:lnTo>
                      <a:pt x="314326" y="69850"/>
                    </a:lnTo>
                    <a:cubicBezTo>
                      <a:pt x="314326" y="113105"/>
                      <a:pt x="243394" y="139700"/>
                      <a:pt x="157164" y="139700"/>
                    </a:cubicBezTo>
                    <a:cubicBezTo>
                      <a:pt x="73379" y="139700"/>
                      <a:pt x="4018" y="114589"/>
                      <a:pt x="368" y="73430"/>
                    </a:cubicBezTo>
                    <a:cubicBezTo>
                      <a:pt x="123" y="72252"/>
                      <a:pt x="0" y="71053"/>
                      <a:pt x="1" y="69850"/>
                    </a:cubicBezTo>
                    <a:lnTo>
                      <a:pt x="89" y="68034"/>
                    </a:lnTo>
                    <a:lnTo>
                      <a:pt x="368" y="66288"/>
                    </a:lnTo>
                    <a:cubicBezTo>
                      <a:pt x="3948" y="26019"/>
                      <a:pt x="70393" y="1100"/>
                      <a:pt x="151716" y="35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182308" y="45843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冗余缓存策略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24625" y="500062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4165" y="5077778"/>
              <a:ext cx="39541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电影表冗余: total_box_office / rating_avg / rating_count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524625" y="538162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4165" y="545877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评分或订单完成后实时更新缓存字段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524625" y="576262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54165" y="58397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避免每次查询都进行聚合计算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24625" y="6143625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54165" y="6220778"/>
              <a:ext cx="3184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订单表冗余 cinema_id/hall_id/movie_id 减少关联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679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4" grpId="0"/>
      <p:bldP spid="47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5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0"/>
            <a:ext cx="11062335" cy="533400"/>
            <a:chOff x="571500" y="0"/>
            <a:chExt cx="11062335" cy="533400"/>
          </a:xfrm>
        </p:grpSpPr>
        <p:sp>
          <p:nvSpPr>
            <p:cNvPr id="5" name="Rectangle 5"/>
            <p:cNvSpPr/>
            <p:nvPr/>
          </p:nvSpPr>
          <p:spPr>
            <a:xfrm>
              <a:off x="571500" y="0"/>
              <a:ext cx="3810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470" y="2667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功能模块展示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844070" y="172402"/>
              <a:ext cx="789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共 19 个页面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523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71500" y="762000"/>
            <a:ext cx="3524250" cy="5619750"/>
            <a:chOff x="571500" y="762000"/>
            <a:chExt cx="3524250" cy="5619750"/>
          </a:xfrm>
        </p:grpSpPr>
        <p:sp>
          <p:nvSpPr>
            <p:cNvPr id="10" name="Rectangle 10"/>
            <p:cNvSpPr/>
            <p:nvPr/>
          </p:nvSpPr>
          <p:spPr>
            <a:xfrm>
              <a:off x="571500" y="762000"/>
              <a:ext cx="3524250" cy="5619750"/>
            </a:xfrm>
            <a:prstGeom prst="roundRect">
              <a:avLst>
                <a:gd name="adj" fmla="val 3784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762000"/>
              <a:ext cx="3524250" cy="476250"/>
            </a:xfrm>
            <a:prstGeom prst="roundRect">
              <a:avLst>
                <a:gd name="adj" fmla="val 28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104900"/>
              <a:ext cx="3524250" cy="13335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12812" y="927100"/>
              <a:ext cx="155575" cy="222250"/>
              <a:chOff x="912812" y="927100"/>
              <a:chExt cx="155575" cy="2222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35038" y="927100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2" y="0"/>
                    </a:moveTo>
                    <a:cubicBezTo>
                      <a:pt x="86249" y="0"/>
                      <a:pt x="111125" y="24876"/>
                      <a:pt x="111125" y="55563"/>
                    </a:cubicBezTo>
                    <a:cubicBezTo>
                      <a:pt x="111125" y="86249"/>
                      <a:pt x="86249" y="111125"/>
                      <a:pt x="55562" y="111125"/>
                    </a:cubicBezTo>
                    <a:cubicBezTo>
                      <a:pt x="24876" y="111125"/>
                      <a:pt x="0" y="86249"/>
                      <a:pt x="0" y="55563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2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12812" y="106045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3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3" y="0"/>
                    </a:cubicBezTo>
                    <a:lnTo>
                      <a:pt x="100013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19200" y="904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Georgia"/>
                  <a:ea typeface="Microsoft YaHei"/>
                  <a:cs typeface="Georgia"/>
                </a:rPr>
                <a:t>普通用户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71848" y="9534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5 个页面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13811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0588" y="14025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首页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3445" y="1598295"/>
              <a:ext cx="17990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热播推荐 · Top10排行 · 今日票房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18764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0588" y="18978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电影列表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3445" y="2093595"/>
              <a:ext cx="14930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类型/年代/地区筛选 · 搜索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3717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588" y="23931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电影详情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3445" y="2588895"/>
              <a:ext cx="15170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海报 · 预告片 · 评分 · 评论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28670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0588" y="2888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选座购票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3445" y="3084195"/>
              <a:ext cx="13370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8×8座位图 · 下单 · 支付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3623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0588" y="33837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我的订单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3445" y="3579495"/>
              <a:ext cx="14810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按订单号查询 · 取消待支付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905250"/>
              <a:ext cx="3143250" cy="2286000"/>
            </a:xfrm>
            <a:prstGeom prst="roundRect">
              <a:avLst>
                <a:gd name="adj" fmla="val 3333"/>
              </a:avLst>
            </a:prstGeom>
            <a:solidFill>
              <a:srgbClr val="0F172A">
                <a:alpha val="3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26418" y="418099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收藏电影 · 评分评论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26418" y="441912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用户注册 · 账户注销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06153" y="46572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未登录可浏览首页和详情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01178" y="48953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受限操作引导登录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333875" y="762000"/>
            <a:ext cx="3524250" cy="5619750"/>
            <a:chOff x="4333875" y="762000"/>
            <a:chExt cx="3524250" cy="5619750"/>
          </a:xfrm>
        </p:grpSpPr>
        <p:sp>
          <p:nvSpPr>
            <p:cNvPr id="39" name="Rectangle 39"/>
            <p:cNvSpPr/>
            <p:nvPr/>
          </p:nvSpPr>
          <p:spPr>
            <a:xfrm>
              <a:off x="4333875" y="762000"/>
              <a:ext cx="3524250" cy="5619750"/>
            </a:xfrm>
            <a:prstGeom prst="roundRect">
              <a:avLst>
                <a:gd name="adj" fmla="val 3784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333875" y="762000"/>
              <a:ext cx="3524250" cy="476250"/>
            </a:xfrm>
            <a:prstGeom prst="roundRect">
              <a:avLst>
                <a:gd name="adj" fmla="val 28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33875" y="1104900"/>
              <a:ext cx="3524250" cy="13335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4641850" y="960438"/>
              <a:ext cx="211137" cy="155575"/>
              <a:chOff x="4641850" y="960438"/>
              <a:chExt cx="211137" cy="15557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4786312" y="989359"/>
                <a:ext cx="66675" cy="9809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8091">
                    <a:moveTo>
                      <a:pt x="56863" y="249"/>
                    </a:moveTo>
                    <a:cubicBezTo>
                      <a:pt x="54710" y="0"/>
                      <a:pt x="52531" y="386"/>
                      <a:pt x="50595" y="1360"/>
                    </a:cubicBezTo>
                    <a:lnTo>
                      <a:pt x="0" y="26641"/>
                    </a:lnTo>
                    <a:lnTo>
                      <a:pt x="0" y="71091"/>
                    </a:lnTo>
                    <a:lnTo>
                      <a:pt x="50595" y="96372"/>
                    </a:lnTo>
                    <a:cubicBezTo>
                      <a:pt x="54035" y="98091"/>
                      <a:pt x="58120" y="97909"/>
                      <a:pt x="61394" y="95891"/>
                    </a:cubicBezTo>
                    <a:cubicBezTo>
                      <a:pt x="64668" y="93873"/>
                      <a:pt x="66665" y="90305"/>
                      <a:pt x="66675" y="86459"/>
                    </a:cubicBezTo>
                    <a:lnTo>
                      <a:pt x="66675" y="11272"/>
                    </a:lnTo>
                    <a:cubicBezTo>
                      <a:pt x="66669" y="5643"/>
                      <a:pt x="62454" y="907"/>
                      <a:pt x="56863" y="249"/>
                    </a:cubicBez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641850" y="96043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33338" y="0"/>
                    </a:moveTo>
                    <a:cubicBezTo>
                      <a:pt x="15057" y="0"/>
                      <a:pt x="0" y="15057"/>
                      <a:pt x="0" y="33338"/>
                    </a:cubicBezTo>
                    <a:lnTo>
                      <a:pt x="0" y="122238"/>
                    </a:lnTo>
                    <a:cubicBezTo>
                      <a:pt x="0" y="140518"/>
                      <a:pt x="15057" y="155575"/>
                      <a:pt x="33338" y="155575"/>
                    </a:cubicBezTo>
                    <a:lnTo>
                      <a:pt x="122238" y="155575"/>
                    </a:lnTo>
                    <a:cubicBezTo>
                      <a:pt x="140518" y="155575"/>
                      <a:pt x="155575" y="140518"/>
                      <a:pt x="155575" y="122238"/>
                    </a:cubicBezTo>
                    <a:lnTo>
                      <a:pt x="155575" y="33338"/>
                    </a:lnTo>
                    <a:cubicBezTo>
                      <a:pt x="155575" y="15057"/>
                      <a:pt x="140518" y="0"/>
                      <a:pt x="122238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4981575" y="9048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B6D4"/>
                  </a:solidFill>
                  <a:latin typeface="Georgia"/>
                  <a:ea typeface="Microsoft YaHei"/>
                  <a:cs typeface="Georgia"/>
                </a:rPr>
                <a:t>影院管理员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34223" y="9534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5 个页面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24375" y="13811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652962" y="1402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员工首页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55820" y="159829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工作台概览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524375" y="18764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652962" y="18978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影院管理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655820" y="20935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影院基本信息维护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524375" y="23717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652962" y="23931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影厅管理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655820" y="2588895"/>
              <a:ext cx="14810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影厅增删改 · 座位布局设置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524375" y="28670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652962" y="2888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排片管理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655820" y="308419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提交场次申请 · 冲突检测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524375" y="33623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652962" y="33837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订单管理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655820" y="357949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查看本影院订单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524375" y="3905250"/>
              <a:ext cx="3143250" cy="2286000"/>
            </a:xfrm>
            <a:prstGeom prst="roundRect">
              <a:avLst>
                <a:gd name="adj" fmla="val 3333"/>
              </a:avLst>
            </a:prstGeom>
            <a:solidFill>
              <a:srgbClr val="0F172A">
                <a:alpha val="3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33536" y="41809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影院管理员注册需审核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443287" y="44191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审核通过后绑定影院ID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433536" y="46572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排期需超级管理员审核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498544" y="489537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审核通过后开始售票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096250" y="762000"/>
            <a:ext cx="3524250" cy="5619750"/>
            <a:chOff x="8096250" y="762000"/>
            <a:chExt cx="3524250" cy="5619750"/>
          </a:xfrm>
        </p:grpSpPr>
        <p:sp>
          <p:nvSpPr>
            <p:cNvPr id="68" name="Rectangle 68"/>
            <p:cNvSpPr/>
            <p:nvPr/>
          </p:nvSpPr>
          <p:spPr>
            <a:xfrm>
              <a:off x="8096250" y="762000"/>
              <a:ext cx="3524250" cy="5619750"/>
            </a:xfrm>
            <a:prstGeom prst="roundRect">
              <a:avLst>
                <a:gd name="adj" fmla="val 3784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096250" y="762000"/>
              <a:ext cx="3524250" cy="476250"/>
            </a:xfrm>
            <a:prstGeom prst="roundRect">
              <a:avLst>
                <a:gd name="adj" fmla="val 28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096250" y="1104900"/>
              <a:ext cx="3524250" cy="13335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399193" y="927100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4868" y="78"/>
                  </a:moveTo>
                  <a:lnTo>
                    <a:pt x="116134" y="0"/>
                  </a:ln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743950" y="9048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B82F6"/>
                  </a:solidFill>
                  <a:latin typeface="Georgia"/>
                  <a:ea typeface="Microsoft YaHei"/>
                  <a:cs typeface="Georgia"/>
                </a:rPr>
                <a:t>超级管理员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96598" y="9534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8 个页面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286750" y="13811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415338" y="1402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管理首页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18195" y="15982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后台概览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286750" y="18764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415338" y="18978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数据统计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418195" y="2093595"/>
              <a:ext cx="17390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票房折线 · 类型饼图 · 排行柱图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286750" y="23717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415338" y="23931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影院审核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418195" y="258889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审核影院管理员入驻申请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286750" y="28670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415338" y="2888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电影管理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418195" y="3084195"/>
              <a:ext cx="15230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电影CRUD · 类型 · 演职人员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286750" y="33623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415338" y="33837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排片审核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418195" y="3579495"/>
              <a:ext cx="17330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全局场次审核 · 通过/驳回/下架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286750" y="38576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415338" y="38790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订单管理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418195" y="407479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全部订单查看与管理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286750" y="43529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415338" y="43743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公告管理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18195" y="457009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系统公告发布与管理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286750" y="4848225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415338" y="4869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账号管理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418195" y="5065395"/>
              <a:ext cx="1595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用户/管理员/影院管理员账号</a:t>
              </a: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11679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7" grpId="0"/>
      <p:bldP spid="9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5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0"/>
            <a:ext cx="11049000" cy="533400"/>
            <a:chOff x="571500" y="0"/>
            <a:chExt cx="11049000" cy="533400"/>
          </a:xfrm>
        </p:grpSpPr>
        <p:sp>
          <p:nvSpPr>
            <p:cNvPr id="5" name="Rectangle 5"/>
            <p:cNvSpPr/>
            <p:nvPr/>
          </p:nvSpPr>
          <p:spPr>
            <a:xfrm>
              <a:off x="571500" y="0"/>
              <a:ext cx="3810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470" y="26670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项目总结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523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571500" y="762000"/>
            <a:ext cx="6096000" cy="5715000"/>
            <a:chOff x="571500" y="762000"/>
            <a:chExt cx="6096000" cy="5715000"/>
          </a:xfrm>
        </p:grpSpPr>
        <p:sp>
          <p:nvSpPr>
            <p:cNvPr id="9" name="Rectangle 9"/>
            <p:cNvSpPr/>
            <p:nvPr/>
          </p:nvSpPr>
          <p:spPr>
            <a:xfrm>
              <a:off x="571500" y="762000"/>
              <a:ext cx="6096000" cy="5715000"/>
            </a:xfrm>
            <a:prstGeom prst="roundRect">
              <a:avLst>
                <a:gd name="adj" fmla="val 2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180398" y="981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0B981"/>
                  </a:solidFill>
                  <a:latin typeface="Georgia"/>
                  <a:ea typeface="Microsoft YaHei"/>
                  <a:cs typeface="Georgia"/>
                </a:rPr>
                <a:t>完成清单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52500" y="128587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69962" y="1537551"/>
              <a:ext cx="1771333" cy="262674"/>
              <a:chOff x="969962" y="1537551"/>
              <a:chExt cx="1771333" cy="26267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69962" y="153755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70635" y="1556385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三角色完整权限体系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69962" y="1899501"/>
              <a:ext cx="2251393" cy="262674"/>
              <a:chOff x="969962" y="1899501"/>
              <a:chExt cx="2251393" cy="26267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69962" y="189950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0635" y="1918335"/>
                <a:ext cx="19507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电影浏览、搜索、详情展示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69962" y="2261451"/>
              <a:ext cx="1555306" cy="262674"/>
              <a:chOff x="969962" y="2261451"/>
              <a:chExt cx="1555306" cy="26267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969962" y="226145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0635" y="2280285"/>
                <a:ext cx="125463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8×8在线选座购票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69962" y="2623401"/>
              <a:ext cx="1771333" cy="262674"/>
              <a:chOff x="969962" y="2623401"/>
              <a:chExt cx="1771333" cy="26267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969962" y="262340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635" y="2642235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订单全生命周期管理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69962" y="2985351"/>
              <a:ext cx="1931353" cy="262674"/>
              <a:chOff x="969962" y="2985351"/>
              <a:chExt cx="1931353" cy="26267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69962" y="298535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70635" y="3004185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影院管理员审核工作流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969962" y="3347301"/>
              <a:ext cx="1771333" cy="262674"/>
              <a:chOff x="969962" y="3347301"/>
              <a:chExt cx="1771333" cy="26267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969962" y="334730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70635" y="3366135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排期管理与冲突检测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969962" y="3709251"/>
              <a:ext cx="2067370" cy="262674"/>
              <a:chOff x="969962" y="3709251"/>
              <a:chExt cx="2067370" cy="26267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69962" y="370925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270635" y="3728085"/>
                <a:ext cx="17666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ECharts数据统计可视化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969962" y="4071201"/>
              <a:ext cx="1291273" cy="262674"/>
              <a:chOff x="969962" y="4071201"/>
              <a:chExt cx="1291273" cy="26267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69962" y="407120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70635" y="4090035"/>
                <a:ext cx="990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系统公告管理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69962" y="4433151"/>
              <a:ext cx="1451293" cy="262674"/>
              <a:chOff x="969962" y="4433151"/>
              <a:chExt cx="1451293" cy="26267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69962" y="443315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635" y="4451985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收藏与评分系统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69962" y="4795101"/>
              <a:ext cx="1771333" cy="262674"/>
              <a:chOff x="969962" y="4795101"/>
              <a:chExt cx="1771333" cy="26267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69962" y="479510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270635" y="4813935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用户注册与账户管理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69962" y="5157051"/>
              <a:ext cx="2275396" cy="262674"/>
              <a:chOff x="969962" y="5157051"/>
              <a:chExt cx="2275396" cy="26267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69962" y="515705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635" y="5175885"/>
                <a:ext cx="197472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前后端完全分离 + 独立部署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858000" y="762000"/>
            <a:ext cx="4762500" cy="2762250"/>
            <a:chOff x="6858000" y="762000"/>
            <a:chExt cx="4762500" cy="2762250"/>
          </a:xfrm>
        </p:grpSpPr>
        <p:sp>
          <p:nvSpPr>
            <p:cNvPr id="46" name="Rectangle 46"/>
            <p:cNvSpPr/>
            <p:nvPr/>
          </p:nvSpPr>
          <p:spPr>
            <a:xfrm>
              <a:off x="6858000" y="762000"/>
              <a:ext cx="4762500" cy="2762250"/>
            </a:xfrm>
            <a:prstGeom prst="roundRect">
              <a:avLst>
                <a:gd name="adj" fmla="val 4828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800148" y="981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B82F6"/>
                  </a:solidFill>
                  <a:latin typeface="Georgia"/>
                  <a:ea typeface="Microsoft YaHei"/>
                  <a:cs typeface="Georgia"/>
                </a:rPr>
                <a:t>项目特色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143750" y="128587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48500" y="147637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78040" y="1572578"/>
              <a:ext cx="30720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模块化架构 — 后端11个业务模块，前端三角色页面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48500" y="187642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78040" y="1972628"/>
              <a:ext cx="34080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冗余缓存优化 — 减少数据库压力，锁座保证数据一致性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048500" y="227647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78040" y="2372678"/>
              <a:ext cx="27080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TMDB API真实海报 — Fallback机制提升体验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048500" y="267652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78040" y="2772728"/>
              <a:ext cx="3023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声明式权限控制 — @RequireRole注解 + 导航守卫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48500" y="307657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78040" y="3172778"/>
              <a:ext cx="27290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审核工作流 — 影院入驻 + 场次放映双重审批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858000" y="3714750"/>
            <a:ext cx="4762500" cy="2762250"/>
            <a:chOff x="6858000" y="3714750"/>
            <a:chExt cx="4762500" cy="2762250"/>
          </a:xfrm>
        </p:grpSpPr>
        <p:sp>
          <p:nvSpPr>
            <p:cNvPr id="60" name="Rectangle 60"/>
            <p:cNvSpPr/>
            <p:nvPr/>
          </p:nvSpPr>
          <p:spPr>
            <a:xfrm>
              <a:off x="6858000" y="3714750"/>
              <a:ext cx="4762500" cy="2762250"/>
            </a:xfrm>
            <a:prstGeom prst="roundRect">
              <a:avLst>
                <a:gd name="adj" fmla="val 4828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695134" y="39338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59E0B"/>
                  </a:solidFill>
                  <a:latin typeface="Georgia"/>
                  <a:ea typeface="Microsoft YaHei"/>
                  <a:cs typeface="Georgia"/>
                </a:rPr>
                <a:t>可扩展方向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7143750" y="4238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48500" y="442912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78040" y="4525328"/>
              <a:ext cx="25679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接入真实支付接口（微信支付 / 支付宝）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048500" y="482917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78040" y="4925378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电影推荐算法（基于用户行为）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048500" y="522922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78040" y="5325428"/>
              <a:ext cx="2217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座位图灵活配置（支持非8×8布局）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048500" y="562927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78040" y="57254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用户评论与回复功能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048500" y="6029325"/>
              <a:ext cx="438150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78040" y="6125528"/>
              <a:ext cx="2448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消息通知系统（站内信 / 邮件 / 短信）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1679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9" grpId="0"/>
      <p:bldP spid="7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F172A"/>
                </a:gs>
                <a:gs pos="5000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B82F6">
                    <a:alpha val="8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4381500" y="1143000"/>
              <a:ext cx="3429000" cy="3429000"/>
            </a:xfrm>
            <a:prstGeom prst="ellipse">
              <a:avLst/>
            </a:prstGeom>
            <a:noFill/>
            <a:ln w="9525">
              <a:solidFill>
                <a:srgbClr val="3B82F6">
                  <a:alpha val="10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4191000" y="952500"/>
              <a:ext cx="3810000" cy="3810000"/>
            </a:xfrm>
            <a:prstGeom prst="ellipse">
              <a:avLst/>
            </a:prstGeom>
            <a:noFill/>
            <a:ln w="4762">
              <a:solidFill>
                <a:srgbClr val="06B6D4">
                  <a:alpha val="6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762000" y="762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0" y="571500"/>
                  </a:lnTo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858500" y="762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0"/>
                  </a:moveTo>
                  <a:lnTo>
                    <a:pt x="571500" y="571500"/>
                  </a:lnTo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5524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571500"/>
                  </a:moveTo>
                  <a:lnTo>
                    <a:pt x="0" y="0"/>
                  </a:lnTo>
                  <a:moveTo>
                    <a:pt x="0" y="571500"/>
                  </a:moveTo>
                  <a:lnTo>
                    <a:pt x="571500" y="571500"/>
                  </a:lnTo>
                </a:path>
              </a:pathLst>
            </a:custGeom>
            <a:noFill/>
            <a:ln w="19050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858500" y="5524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571500"/>
                  </a:moveTo>
                  <a:lnTo>
                    <a:pt x="571500" y="0"/>
                  </a:lnTo>
                  <a:moveTo>
                    <a:pt x="571500" y="57150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3B82F6">
                  <a:alpha val="30000"/>
                </a:srgbClr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739900" y="1905000"/>
            <a:ext cx="8699500" cy="3333750"/>
            <a:chOff x="1739900" y="1905000"/>
            <a:chExt cx="8699500" cy="3333750"/>
          </a:xfrm>
        </p:grpSpPr>
        <p:sp>
          <p:nvSpPr>
            <p:cNvPr id="11" name="Rectangle 11"/>
            <p:cNvSpPr/>
            <p:nvPr/>
          </p:nvSpPr>
          <p:spPr>
            <a:xfrm>
              <a:off x="5143500" y="1905000"/>
              <a:ext cx="1905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866513" y="2213610"/>
              <a:ext cx="2458974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gradFill>
                    <a:gsLst>
                      <a:gs pos="0">
                        <a:srgbClr val="3B82F6"/>
                      </a:gs>
                      <a:gs pos="100000">
                        <a:srgbClr val="06B6D4"/>
                      </a:gs>
                    </a:gsLst>
                    <a:lin ang="0" scaled="1"/>
                  </a:gradFill>
                  <a:latin typeface="Georgia"/>
                  <a:ea typeface="Microsoft YaHei"/>
                  <a:cs typeface="Georgia"/>
                </a:rPr>
                <a:t>感谢聆听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98602" y="2947035"/>
              <a:ext cx="994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1F5F9"/>
                  </a:solidFill>
                  <a:latin typeface="Georgia"/>
                  <a:ea typeface="Microsoft YaHei"/>
                  <a:cs typeface="Georgia"/>
                </a:rPr>
                <a:t>Q &amp; A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953000" y="36195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49651" y="3950018"/>
              <a:ext cx="32926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影院管理系统 · Cinema Booking System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60595" y="4299585"/>
              <a:ext cx="26708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软件工程实践 · 课程项目答辩 · 2026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048000" y="4953000"/>
              <a:ext cx="6096000" cy="285750"/>
              <a:chOff x="3048000" y="4953000"/>
              <a:chExt cx="6096000" cy="285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048000" y="4953000"/>
                <a:ext cx="809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062097" y="5055870"/>
                <a:ext cx="7909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3B82F6"/>
                    </a:solidFill>
                    <a:latin typeface="Arial"/>
                    <a:ea typeface="Microsoft YaHei"/>
                    <a:cs typeface="Arial"/>
                  </a:rPr>
                  <a:t>Spring Boot 3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000500" y="4953000"/>
                <a:ext cx="6191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153376" y="5055870"/>
                <a:ext cx="3228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6B6D4"/>
                    </a:solidFill>
                    <a:latin typeface="Arial"/>
                    <a:ea typeface="Microsoft YaHei"/>
                    <a:cs typeface="Arial"/>
                  </a:rPr>
                  <a:t>Vue 3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4762500" y="4953000"/>
                <a:ext cx="571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847796" y="50558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MySQL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476875" y="4953000"/>
                <a:ext cx="476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592556" y="5055870"/>
                <a:ext cx="2448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JWT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096000" y="4953000"/>
                <a:ext cx="571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139291" y="5055870"/>
                <a:ext cx="4849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ECharts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810375" y="4953000"/>
                <a:ext cx="809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835950" y="5055870"/>
                <a:ext cx="7489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Element Plus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7762875" y="4953000"/>
                <a:ext cx="809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836456" y="5055870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TypeScript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715375" y="4953000"/>
                <a:ext cx="428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796480" y="5055870"/>
                <a:ext cx="25688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Vite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739900" y="2349500"/>
              <a:ext cx="241300" cy="177800"/>
              <a:chOff x="1739900" y="2349500"/>
              <a:chExt cx="241300" cy="177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905000" y="2382553"/>
                <a:ext cx="76200" cy="11210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104">
                    <a:moveTo>
                      <a:pt x="64986" y="284"/>
                    </a:moveTo>
                    <a:cubicBezTo>
                      <a:pt x="62526" y="0"/>
                      <a:pt x="60036" y="441"/>
                      <a:pt x="57823" y="1554"/>
                    </a:cubicBezTo>
                    <a:lnTo>
                      <a:pt x="0" y="30447"/>
                    </a:lnTo>
                    <a:lnTo>
                      <a:pt x="0" y="81247"/>
                    </a:lnTo>
                    <a:lnTo>
                      <a:pt x="57823" y="110139"/>
                    </a:lnTo>
                    <a:cubicBezTo>
                      <a:pt x="61755" y="112104"/>
                      <a:pt x="66423" y="111896"/>
                      <a:pt x="70164" y="109590"/>
                    </a:cubicBezTo>
                    <a:cubicBezTo>
                      <a:pt x="73906" y="107283"/>
                      <a:pt x="76189" y="103206"/>
                      <a:pt x="76200" y="98811"/>
                    </a:cubicBezTo>
                    <a:lnTo>
                      <a:pt x="76200" y="12883"/>
                    </a:lnTo>
                    <a:cubicBezTo>
                      <a:pt x="76193" y="6449"/>
                      <a:pt x="71375" y="1037"/>
                      <a:pt x="64986" y="284"/>
                    </a:cubicBezTo>
                    <a:close/>
                  </a:path>
                </a:pathLst>
              </a:cu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739900" y="23495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38100" y="0"/>
                    </a:moveTo>
                    <a:cubicBezTo>
                      <a:pt x="17209" y="0"/>
                      <a:pt x="0" y="17209"/>
                      <a:pt x="0" y="38100"/>
                    </a:cubicBezTo>
                    <a:lnTo>
                      <a:pt x="0" y="139700"/>
                    </a:lnTo>
                    <a:cubicBezTo>
                      <a:pt x="0" y="160591"/>
                      <a:pt x="17209" y="177800"/>
                      <a:pt x="38100" y="177800"/>
                    </a:cubicBezTo>
                    <a:lnTo>
                      <a:pt x="139700" y="177800"/>
                    </a:lnTo>
                    <a:cubicBezTo>
                      <a:pt x="160592" y="177800"/>
                      <a:pt x="177800" y="160591"/>
                      <a:pt x="177800" y="139700"/>
                    </a:cubicBezTo>
                    <a:lnTo>
                      <a:pt x="177800" y="38100"/>
                    </a:lnTo>
                    <a:cubicBezTo>
                      <a:pt x="177800" y="17209"/>
                      <a:pt x="160592" y="0"/>
                      <a:pt x="139700" y="0"/>
                    </a:cubicBezTo>
                    <a:close/>
                  </a:path>
                </a:pathLst>
              </a:custGeom>
              <a:solidFill>
                <a:srgbClr val="3B82F6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10198100" y="2349500"/>
              <a:ext cx="241300" cy="177800"/>
              <a:chOff x="10198100" y="2349500"/>
              <a:chExt cx="241300" cy="177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363200" y="2382553"/>
                <a:ext cx="76200" cy="11210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104">
                    <a:moveTo>
                      <a:pt x="64986" y="284"/>
                    </a:moveTo>
                    <a:cubicBezTo>
                      <a:pt x="62526" y="0"/>
                      <a:pt x="60036" y="441"/>
                      <a:pt x="57823" y="1554"/>
                    </a:cubicBezTo>
                    <a:lnTo>
                      <a:pt x="0" y="30447"/>
                    </a:lnTo>
                    <a:lnTo>
                      <a:pt x="0" y="81247"/>
                    </a:lnTo>
                    <a:lnTo>
                      <a:pt x="57823" y="110139"/>
                    </a:lnTo>
                    <a:cubicBezTo>
                      <a:pt x="61755" y="112104"/>
                      <a:pt x="66423" y="111896"/>
                      <a:pt x="70164" y="109590"/>
                    </a:cubicBezTo>
                    <a:cubicBezTo>
                      <a:pt x="73906" y="107283"/>
                      <a:pt x="76189" y="103206"/>
                      <a:pt x="76200" y="98811"/>
                    </a:cubicBezTo>
                    <a:lnTo>
                      <a:pt x="76200" y="12883"/>
                    </a:lnTo>
                    <a:cubicBezTo>
                      <a:pt x="76193" y="6449"/>
                      <a:pt x="71375" y="1037"/>
                      <a:pt x="64986" y="284"/>
                    </a:cubicBez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198100" y="23495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38100" y="0"/>
                    </a:moveTo>
                    <a:cubicBezTo>
                      <a:pt x="17208" y="0"/>
                      <a:pt x="0" y="17209"/>
                      <a:pt x="0" y="38100"/>
                    </a:cubicBezTo>
                    <a:lnTo>
                      <a:pt x="0" y="139700"/>
                    </a:lnTo>
                    <a:cubicBezTo>
                      <a:pt x="0" y="160591"/>
                      <a:pt x="17208" y="177800"/>
                      <a:pt x="38100" y="177800"/>
                    </a:cubicBezTo>
                    <a:lnTo>
                      <a:pt x="139700" y="177800"/>
                    </a:lnTo>
                    <a:cubicBezTo>
                      <a:pt x="160591" y="177800"/>
                      <a:pt x="177800" y="160591"/>
                      <a:pt x="177800" y="139700"/>
                    </a:cubicBezTo>
                    <a:lnTo>
                      <a:pt x="177800" y="38100"/>
                    </a:lnTo>
                    <a:cubicBezTo>
                      <a:pt x="177800" y="17209"/>
                      <a:pt x="160591" y="0"/>
                      <a:pt x="139700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</p:sp>
        </p:grpSp>
      </p:grpSp>
      <p:sp>
        <p:nvSpPr>
          <p:cNvPr id="41" name="TextBox 41"/>
          <p:cNvSpPr txBox="1"/>
          <p:nvPr/>
        </p:nvSpPr>
        <p:spPr>
          <a:xfrm>
            <a:off x="11707011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